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Arial"/>
              </a:defRPr>
            </a:pPr>
            <a:r>
              <a:rPr sz="1400" b="0" i="0" u="none" strike="noStrike">
                <a:solidFill>
                  <a:srgbClr val="000000"/>
                </a:solidFill>
                <a:latin typeface="Arial"/>
              </a:rPr>
              <a:t>6,988 confirmed trees vs. the prior model's crown outlines</a:t>
            </a:r>
          </a:p>
        </c:rich>
      </c:tx>
      <c:layout/>
      <c:overlay val="0"/>
    </c:title>
    <c:autoTitleDeleted val="0"/>
    <c:plotArea>
      <c:layout/>
      <c:barChart>
        <c:barDir val="col"/>
        <c:grouping val="clustered"/>
        <c:varyColors val="0"/>
        <c:ser>
          <c:idx val="0"/>
          <c:order val="0"/>
          <c:tx>
            <c:strRef>
              <c:f>Sheet1!$B$1</c:f>
              <c:strCache>
                <c:ptCount val="1"/>
                <c:pt idx="0">
                  <c:v>Trees</c:v>
                </c:pt>
              </c:strCache>
            </c:strRef>
          </c:tx>
          <c:spPr>
            <a:solidFill>
              <a:srgbClr val="40404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 crown outline</c:v>
                  </c:pt>
                  <c:pt idx="1">
                    <c:v>Merged with neighbors</c:v>
                  </c:pt>
                  <c:pt idx="2">
                    <c:v>No outline at all</c:v>
                  </c:pt>
                </c:lvl>
              </c:multiLvlStrCache>
            </c:multiLvlStrRef>
          </c:cat>
          <c:val>
            <c:numRef>
              <c:f>Sheet1!$B$2:$B$4</c:f>
              <c:numCache>
                <c:formatCode>General</c:formatCode>
                <c:ptCount val="3"/>
                <c:pt idx="0">
                  <c:v>1197</c:v>
                </c:pt>
                <c:pt idx="1">
                  <c:v>1703</c:v>
                </c:pt>
                <c:pt idx="2">
                  <c:v>4088</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00"/>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Arial"/>
              </a:defRPr>
            </a:pPr>
            <a:r>
              <a:rPr sz="1400" b="0" i="0" u="none" strike="noStrike">
                <a:solidFill>
                  <a:srgbClr val="000000"/>
                </a:solidFill>
                <a:latin typeface="Arial"/>
              </a:rPr>
              <a:t>Campus recall (%) by match radius</a:t>
            </a:r>
          </a:p>
        </c:rich>
      </c:tx>
      <c:layout/>
      <c:overlay val="0"/>
    </c:title>
    <c:autoTitleDeleted val="0"/>
    <c:plotArea>
      <c:layout/>
      <c:barChart>
        <c:barDir val="col"/>
        <c:grouping val="clustered"/>
        <c:varyColors val="0"/>
        <c:ser>
          <c:idx val="0"/>
          <c:order val="0"/>
          <c:tx>
            <c:strRef>
              <c:f>Sheet1!$B$1</c:f>
              <c:strCache>
                <c:ptCount val="1"/>
                <c:pt idx="0">
                  <c:v>DeepForest</c:v>
                </c:pt>
              </c:strCache>
            </c:strRef>
          </c:tx>
          <c:spPr>
            <a:solidFill>
              <a:srgbClr val="404040"/>
            </a:solidFill>
            <a:effectLst/>
          </c:spPr>
          <c:invertIfNegative val="0"/>
          <c:dLbls>
            <c:numFmt formatCode="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1 m</c:v>
                  </c:pt>
                  <c:pt idx="1">
                    <c:v>2 m</c:v>
                  </c:pt>
                  <c:pt idx="2">
                    <c:v>5 m</c:v>
                  </c:pt>
                </c:lvl>
              </c:multiLvlStrCache>
            </c:multiLvlStrRef>
          </c:cat>
          <c:val>
            <c:numRef>
              <c:f>Sheet1!$B$2:$B$4</c:f>
              <c:numCache>
                <c:formatCode>General</c:formatCode>
                <c:ptCount val="3"/>
                <c:pt idx="0">
                  <c:v>8</c:v>
                </c:pt>
                <c:pt idx="1">
                  <c:v>22.4</c:v>
                </c:pt>
                <c:pt idx="2">
                  <c:v>49.8</c:v>
                </c:pt>
              </c:numCache>
            </c:numRef>
          </c:val>
        </c:ser>
        <c:ser>
          <c:idx val="1"/>
          <c:order val="1"/>
          <c:tx>
            <c:strRef>
              <c:f>Sheet1!$C$1</c:f>
              <c:strCache>
                <c:ptCount val="1"/>
                <c:pt idx="0">
                  <c:v>Random scatter</c:v>
                </c:pt>
              </c:strCache>
            </c:strRef>
          </c:tx>
          <c:spPr>
            <a:solidFill>
              <a:srgbClr val="BFBFBF"/>
            </a:solidFill>
            <a:effectLst/>
          </c:spPr>
          <c:invertIfNegative val="0"/>
          <c:dLbls>
            <c:numFmt formatCode="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1 m</c:v>
                  </c:pt>
                  <c:pt idx="1">
                    <c:v>2 m</c:v>
                  </c:pt>
                  <c:pt idx="2">
                    <c:v>5 m</c:v>
                  </c:pt>
                </c:lvl>
              </c:multiLvlStrCache>
            </c:multiLvlStrRef>
          </c:cat>
          <c:val>
            <c:numRef>
              <c:f>Sheet1!$C$2:$C$4</c:f>
              <c:numCache>
                <c:formatCode>General</c:formatCode>
                <c:ptCount val="3"/>
                <c:pt idx="0">
                  <c:v>0.5</c:v>
                </c:pt>
                <c:pt idx="1">
                  <c:v>4.1</c:v>
                </c:pt>
                <c:pt idx="2">
                  <c:v>17.8</c:v>
                </c:pt>
              </c:numCache>
            </c:numRef>
          </c:val>
        </c:ser>
        <c:dLbls>
          <c:numFmt formatCode="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00000"/>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Arial"/>
              </a:defRPr>
            </a:pPr>
            <a:r>
              <a:rPr sz="1400" b="0" i="0" u="none" strike="noStrike">
                <a:solidFill>
                  <a:srgbClr val="000000"/>
                </a:solidFill>
                <a:latin typeface="Arial"/>
              </a:rPr>
              <a:t>F1 at 5 m, same data, split, and scoring</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404040"/>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TreeNet</c:v>
                  </c:pt>
                  <c:pt idx="1">
                    <c:v>DeepForest</c:v>
                  </c:pt>
                  <c:pt idx="2">
                    <c:v>YOLO26s</c:v>
                  </c:pt>
                </c:lvl>
              </c:multiLvlStrCache>
            </c:multiLvlStrRef>
          </c:cat>
          <c:val>
            <c:numRef>
              <c:f>Sheet1!$B$2:$B$4</c:f>
              <c:numCache>
                <c:formatCode>General</c:formatCode>
                <c:ptCount val="3"/>
                <c:pt idx="0">
                  <c:v>0.42</c:v>
                </c:pt>
                <c:pt idx="1">
                  <c:v>0.573</c:v>
                </c:pt>
                <c:pt idx="2">
                  <c:v>0.66</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
        </c:scaling>
        <c:delete val="0"/>
        <c:axPos val="l"/>
        <c:majorGridlines>
          <c:spPr>
            <a:ln w="6350" cap="flat">
              <a:solidFill>
                <a:srgbClr val="E6E6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 Hi everyone, I'm Rayan. Our instructor already set up the problem and the data, so I'll focus on what I built this summer, what the results were, and what I learned. After me, Ahsan will walk through his YOLO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 I worked on two sites. On the left is a tile from the Coral Gables campus: trees are mostly separated, lots of palms, and there's a botanical inventory with about seven thousand confirmed trees. On the right is Big Cypress: a 20 by 20 meter patch of wetland forest where trees are packed together and crowns overlap. The question sounds simple: can a model find every individual tree from an ordinary color photo, and can we trust the score it reports? That second half ended up being most of my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 Here's how the summer went. May was setup with Tim. In early June I built the core pipeline and trained a first model. From late June to mid July I spent most of my time questioning the score, and that turned out to be the most important part. In late July I moved the whole approach to Big Cypress and ran a set of diagnostics. Then I consolidated with a fair scoring method and a model I wrote from scratch. How I kept it manageable: every experiment is one numbered script that answers one question, gets one commit, and saves a figure so I can check it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 This is the whole system on one slide. Inputs are the drone photos plus ground-truth tree locations stored as points. Step two turns each point into a training label: a box, or a soft blob on a heatmap, depending on the model. Step three splits the data by geography, so a model is always tested on ground it never saw, and cuts the huge images into small chips, reading only one window at a time so everything fits on a laptop. I trained three kinds of detectors. All three are scored the same way: every prediction becomes a point, gets matched to the nearest real tree, and is compared against random guessing. The loop at the bottom is the part that mattered most: diagnostics like the manual audit decided what the next script would be. Along the bottom is the plumbing that kept it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 The first real decision came before any model. When I lined up the inventory points with the old model's crown outlines, almost six in ten real trees had no outline at all, and 640 outlines had swallowed two or more trees. So I stopped trusting the outlines. Every confirmed tree gets exactly one box: its real crown shape where a clean outline exists, otherwise a fixed-size box of about 7 meters that I derived from the clean outlines. Every box is tagged with its source, so I can always trace where a label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 Next I fine-tuned DeepForest, a detector pretrained on forest canopy. One design choice here: I split train and test by region, bottom left versus top right, instead of picking trees at random. Random splits leak, because neighboring trees look alike. Training early stopped after about 28 minutes. The first score was an F1 of 0.39, which looks bad. And when I swapped the two regions it dropped to 0.32, so the number also depends on where you test. Instead of reaching for a bigger model, I asked whether the score itself was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 So I pulled a random 100 of the model's false positives and opened each one in QGIS. Here are four of them. In the first three there is obviously a tree inside the box, the inventory just never recorded it, and the third one shows a different problem: one box sitting over several crowns at once. The fourth is a real error, a bush. Across the 100: 94 were real trees, 3 were errors, 3 I was unsure about. On the other side, only about 5 percent of the misses were trees the model never found. I also had to catch myself: a quick extrapolation said precision might be 0.96, but only 43 of the 94 were brand-new trees, so the careful number is about 0.61.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 That told me box overlap was the wrong ruler, so I changed it. Every prediction becomes a point, and it counts as correct if it's within a set distance of a real tree, one match per tree. The second piece is a random floor: I scatter the same number of random points and score them the exact same way. Every model should have to answer: do you beat darts thrown at a map? On campus the answer is clearly yes. At 5 meters the model finds half the trees and random finds 18 percent. F1 is 0.57.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 With a fair ruler, I could compare three detectors on identical data. My from-scratch CNN, written without any pretrained weights, gets 0.42. DeepForest gets 0.57. Ahsan's YOLO gets 0.66, and he'll explain why. The interesting part: my scratch model finds almost as many trees as DeepForest; it just has more false alarms. So read as an experiment, pretraining is worth roughly 0.15 to 0.24 F1 here. I also tested species. Palm versus not-palm works well, about 90 percent. But pine and cypress barely exist on campus, 22 cypress against 3,461 others, so a four-class model wasn't trainable.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 Then I brought the same playbook to Big Cypress. This is the same 30 meter window three ways. On the left is just the drone photo: crowns overlap and the ground is a mess of dead wood. In the middle are the trees the field crew actually surveyed, 171 in this window. On the right is what the model returns, 403 detections in the same window. It is not finding trees, it is carpeting the plot. Over the whole plot that is 4,212 detections against 2,576 real trees. Every detector family lands at an F1 around 11 percent, and random scatter gets about 10. Species classification did worse than just guessing pine. On campus the model beat random by 32 points of recall. Here it 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 A result that bad could just be a bug, so I tried to break my own conclusion. Three different model families land at the same number, so it isn't the architecture. I fixed a loss function that was collapsing, and it still landed there. I tried different resolutions and box sizes. I checked whether it only misses small trees: recall stays flat even for the biggest trees. And I checked whether the survey points were misaligned with the photo: palm points land on palm crowns, and shifting the points in every direction never improves recall. It peaks exactly at no shift, which is what this heatmap shows. So the conclusion is that flat color imagery doesn't carry enough signal in dense, overlapping canopy. Height data is the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 On AI. I used Claude heavily for building, mostly Opus 4.8 in Claude Code: drafting and debugging the scripts, the figure code, the documentation, and even the prompts themselves, which Claude wrote while I steered. What I did myself was the part that decides whether a result is real: inspecting the data, designing the experiments, the manual audit, and interpreting results, including catching my own overclaims like the 0.96. My takeaway: AI makes building fast, and that makes checking against the data more important,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 Since AI wrote a lot of this, here's how I kept it reproducible. Every experiment went through the same loop. I picked the question based on the last result. Claude wrote the Claude Code prompt from my direction, and I reviewed it. Claude Code, mostly Opus 4.8, wrote the script and ran it on my laptop. I checked the figures against the data. Then one commit with the exact numbers. On top of that: all settings live in one config file, seeds are fixed, commits link back to the Claude session that produced them, and one script re-runs the saved model and stops if the baseline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 Here's what one of those prompts looked like, using the alignment check as an example. It has one question, hard constraints like no retraining, staged steps, where outputs go, and it has to end with a plain verdict. Every prompt followed that same template. Claude wrote the wording, but the question and the constraints came from me, and I pushed back whenever a verdict claimed more than the figures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 Six things I'm taking away. Check the answer key before blaming the model. Treat the metric as a design choice, because the same model can look very different under two rulers. Always report a random baseline; in dense forest it exposed a decent-looking recall as chance. A negative result counts if you actually rule things out. Pretraining and the right data mattered more than clever architecture. And small steps, one question per script, is what made all of this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 Next steps. The biggest one is height: I'm requesting a canopy height model for Big Cypress, which should separate overlapping crowns directly. There are also three plot images that need re-exporting, finishing the hand-labeled evaluation area on campus, trying crown segmentation, and keeping a separate validation region. Then the write-up. Thank you, and with that I'll hand it over to Ahsan.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10881360" cy="1737360"/>
          </a:xfrm>
          <a:prstGeom prst="rect">
            <a:avLst/>
          </a:prstGeom>
          <a:noFill/>
          <a:ln/>
        </p:spPr>
        <p:txBody>
          <a:bodyPr wrap="square" lIns="0" tIns="0" rIns="0" bIns="0" rtlCol="0" anchor="t"/>
          <a:lstStyle/>
          <a:p>
            <a:pPr indent="0" marL="0">
              <a:buNone/>
            </a:pPr>
            <a:r>
              <a:rPr lang="en-US" sz="3800" b="1" dirty="0">
                <a:solidFill>
                  <a:srgbClr val="000000"/>
                </a:solidFill>
                <a:latin typeface="Arial" pitchFamily="34" charset="0"/>
                <a:ea typeface="Arial" pitchFamily="34" charset="-122"/>
                <a:cs typeface="Arial" pitchFamily="34" charset="-120"/>
              </a:rPr>
              <a:t>AI-driven Tree Detection in South Florida: Benchmarks and Fine Tuned models for YOLO and Deep Forest.</a:t>
            </a:r>
            <a:endParaRPr lang="en-US" sz="3800" dirty="0"/>
          </a:p>
        </p:txBody>
      </p:sp>
      <p:sp>
        <p:nvSpPr>
          <p:cNvPr id="3" name="Text 1"/>
          <p:cNvSpPr txBox="1"/>
          <p:nvPr/>
        </p:nvSpPr>
        <p:spPr>
          <a:xfrm>
            <a:off x="731520" y="4114800"/>
            <a:ext cx="10698480" cy="41148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Tim, Rayan, Ahsan</a:t>
            </a:r>
            <a:endParaRPr lang="en-US" sz="1800" dirty="0"/>
          </a:p>
        </p:txBody>
      </p:sp>
      <p:sp>
        <p:nvSpPr>
          <p:cNvPr id="4" name="Text 2"/>
          <p:cNvSpPr txBox="1"/>
          <p:nvPr/>
        </p:nvSpPr>
        <p:spPr>
          <a:xfrm>
            <a:off x="731520" y="4526280"/>
            <a:ext cx="10698480" cy="36576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Frost Institute for Data Science and Computing, University of Miami  |  Summer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My part: one pipeline, two very different forests</a:t>
            </a:r>
            <a:endParaRPr lang="en-US" sz="3000" dirty="0"/>
          </a:p>
        </p:txBody>
      </p:sp>
      <p:pic>
        <p:nvPicPr>
          <p:cNvPr id="3" name="Image 0" descr="/home/claude/deck/img/gables_tile.jpg">    </p:cNvPr>
          <p:cNvPicPr>
            <a:picLocks noChangeAspect="1"/>
          </p:cNvPicPr>
          <p:nvPr/>
        </p:nvPicPr>
        <p:blipFill>
          <a:blip r:embed="rId1"/>
          <a:stretch>
            <a:fillRect/>
          </a:stretch>
        </p:blipFill>
        <p:spPr>
          <a:xfrm>
            <a:off x="731520" y="1234440"/>
            <a:ext cx="3246120" cy="3246120"/>
          </a:xfrm>
          <a:prstGeom prst="rect">
            <a:avLst/>
          </a:prstGeom>
        </p:spPr>
      </p:pic>
      <p:sp>
        <p:nvSpPr>
          <p:cNvPr id="4" name="Text 1"/>
          <p:cNvSpPr txBox="1"/>
          <p:nvPr/>
        </p:nvSpPr>
        <p:spPr>
          <a:xfrm>
            <a:off x="4206240" y="1234440"/>
            <a:ext cx="1920240" cy="3200400"/>
          </a:xfrm>
          <a:prstGeom prst="rect">
            <a:avLst/>
          </a:prstGeom>
          <a:noFill/>
          <a:ln/>
        </p:spPr>
        <p:txBody>
          <a:bodyPr wrap="square" lIns="0" tIns="0" rIns="0" bIns="0" rtlCol="0" anchor="t"/>
          <a:lstStyle/>
          <a:p>
            <a:pPr indent="0" marL="0">
              <a:spcAft>
                <a:spcPts val="600"/>
              </a:spcAft>
              <a:buNone/>
            </a:pPr>
            <a:r>
              <a:rPr lang="en-US" sz="1400" b="1" dirty="0">
                <a:solidFill>
                  <a:srgbClr val="000000"/>
                </a:solidFill>
                <a:latin typeface="Arial" pitchFamily="34" charset="0"/>
                <a:ea typeface="Arial" pitchFamily="34" charset="-122"/>
                <a:cs typeface="Arial" pitchFamily="34" charset="-120"/>
              </a:rPr>
              <a:t>UM Coral Gables campus</a:t>
            </a:r>
            <a:endParaRPr lang="en-US" sz="1400" dirty="0"/>
          </a:p>
          <a:p>
            <a:pPr indent="0" marL="0">
              <a:spcAft>
                <a:spcPts val="600"/>
              </a:spcAft>
              <a:buNone/>
            </a:pPr>
            <a:r>
              <a:rPr lang="en-US" sz="1400" dirty="0">
                <a:solidFill>
                  <a:srgbClr val="000000"/>
                </a:solidFill>
                <a:latin typeface="Arial" pitchFamily="34" charset="0"/>
                <a:ea typeface="Arial" pitchFamily="34" charset="-122"/>
                <a:cs typeface="Arial" pitchFamily="34" charset="-120"/>
              </a:rPr>
              <a:t>40 m x 40 m tile. Sparse, urban, palm-heavy. Inventory of 6,988 confirmed trees.</a:t>
            </a:r>
            <a:endParaRPr lang="en-US" sz="1400" dirty="0"/>
          </a:p>
        </p:txBody>
      </p:sp>
      <p:pic>
        <p:nvPicPr>
          <p:cNvPr id="5" name="Image 1" descr="/home/claude/deck/img/bcnp_palm_panel.jpg">    </p:cNvPr>
          <p:cNvPicPr>
            <a:picLocks noChangeAspect="1"/>
          </p:cNvPicPr>
          <p:nvPr/>
        </p:nvPicPr>
        <p:blipFill>
          <a:blip r:embed="rId2"/>
          <a:stretch>
            <a:fillRect/>
          </a:stretch>
        </p:blipFill>
        <p:spPr>
          <a:xfrm>
            <a:off x="6400800" y="1234440"/>
            <a:ext cx="3246120" cy="3246120"/>
          </a:xfrm>
          <a:prstGeom prst="rect">
            <a:avLst/>
          </a:prstGeom>
        </p:spPr>
      </p:pic>
      <p:sp>
        <p:nvSpPr>
          <p:cNvPr id="6" name="Text 2"/>
          <p:cNvSpPr txBox="1"/>
          <p:nvPr/>
        </p:nvSpPr>
        <p:spPr>
          <a:xfrm>
            <a:off x="9875520" y="1234440"/>
            <a:ext cx="1828800" cy="3200400"/>
          </a:xfrm>
          <a:prstGeom prst="rect">
            <a:avLst/>
          </a:prstGeom>
          <a:noFill/>
          <a:ln/>
        </p:spPr>
        <p:txBody>
          <a:bodyPr wrap="square" lIns="0" tIns="0" rIns="0" bIns="0" rtlCol="0" anchor="t"/>
          <a:lstStyle/>
          <a:p>
            <a:pPr indent="0" marL="0">
              <a:spcAft>
                <a:spcPts val="600"/>
              </a:spcAft>
              <a:buNone/>
            </a:pPr>
            <a:r>
              <a:rPr lang="en-US" sz="1400" b="1" dirty="0">
                <a:solidFill>
                  <a:srgbClr val="000000"/>
                </a:solidFill>
                <a:latin typeface="Arial" pitchFamily="34" charset="0"/>
                <a:ea typeface="Arial" pitchFamily="34" charset="-122"/>
                <a:cs typeface="Arial" pitchFamily="34" charset="-120"/>
              </a:rPr>
              <a:t>Big Cypress National Preserve</a:t>
            </a:r>
            <a:endParaRPr lang="en-US" sz="1400" dirty="0"/>
          </a:p>
          <a:p>
            <a:pPr indent="0" marL="0">
              <a:spcAft>
                <a:spcPts val="600"/>
              </a:spcAft>
              <a:buNone/>
            </a:pPr>
            <a:r>
              <a:rPr lang="en-US" sz="1400" dirty="0">
                <a:solidFill>
                  <a:srgbClr val="000000"/>
                </a:solidFill>
                <a:latin typeface="Arial" pitchFamily="34" charset="0"/>
                <a:ea typeface="Arial" pitchFamily="34" charset="-122"/>
                <a:cs typeface="Arial" pitchFamily="34" charset="-120"/>
              </a:rPr>
              <a:t>20 m x 20 m patch. Dense wetland, crowns overlap. About 1,500 to 2,600 trees per hectare. (Circles = surveyed palms.)</a:t>
            </a:r>
            <a:endParaRPr lang="en-US" sz="1400" dirty="0"/>
          </a:p>
        </p:txBody>
      </p:sp>
      <p:sp>
        <p:nvSpPr>
          <p:cNvPr id="7" name="Text 3"/>
          <p:cNvSpPr txBox="1"/>
          <p:nvPr/>
        </p:nvSpPr>
        <p:spPr>
          <a:xfrm>
            <a:off x="731520" y="4983480"/>
            <a:ext cx="10698480" cy="91440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The question: can a model find every individual tree in an ordinary color (RGB) photo, and can we trust the score it gets?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Timeline: May to September</a:t>
            </a:r>
            <a:endParaRPr lang="en-US" sz="3000" dirty="0"/>
          </a:p>
        </p:txBody>
      </p:sp>
      <p:sp>
        <p:nvSpPr>
          <p:cNvPr id="3" name="Shape 1"/>
          <p:cNvSpPr/>
          <p:nvPr/>
        </p:nvSpPr>
        <p:spPr>
          <a:xfrm>
            <a:off x="1325880" y="2011680"/>
            <a:ext cx="9555480" cy="0"/>
          </a:xfrm>
          <a:prstGeom prst="line">
            <a:avLst/>
          </a:prstGeom>
          <a:noFill/>
          <a:ln w="19050">
            <a:solidFill>
              <a:srgbClr val="000000"/>
            </a:solidFill>
            <a:prstDash val="solid"/>
          </a:ln>
        </p:spPr>
      </p:sp>
      <p:sp>
        <p:nvSpPr>
          <p:cNvPr id="4" name="Shape 2"/>
          <p:cNvSpPr/>
          <p:nvPr/>
        </p:nvSpPr>
        <p:spPr>
          <a:xfrm>
            <a:off x="1225296" y="1911096"/>
            <a:ext cx="201168" cy="201168"/>
          </a:xfrm>
          <a:prstGeom prst="ellipse">
            <a:avLst/>
          </a:prstGeom>
          <a:solidFill>
            <a:srgbClr val="000000"/>
          </a:solidFill>
          <a:ln w="12700">
            <a:solidFill>
              <a:srgbClr val="000000"/>
            </a:solidFill>
            <a:prstDash val="solid"/>
          </a:ln>
        </p:spPr>
      </p:sp>
      <p:sp>
        <p:nvSpPr>
          <p:cNvPr id="5" name="Text 3"/>
          <p:cNvSpPr txBox="1"/>
          <p:nvPr/>
        </p:nvSpPr>
        <p:spPr>
          <a:xfrm>
            <a:off x="411480" y="1444752"/>
            <a:ext cx="1828800" cy="320040"/>
          </a:xfrm>
          <a:prstGeom prst="rect">
            <a:avLst/>
          </a:prstGeom>
          <a:noFill/>
          <a:ln/>
        </p:spPr>
        <p:txBody>
          <a:bodyPr wrap="square" lIns="0" tIns="0" rIns="0" bIns="0" rtlCol="0" anchor="t"/>
          <a:lstStyle/>
          <a:p>
            <a:pPr algn="ctr" indent="0" marL="0">
              <a:buNone/>
            </a:pPr>
            <a:r>
              <a:rPr lang="en-US" sz="1300" dirty="0">
                <a:solidFill>
                  <a:srgbClr val="444444"/>
                </a:solidFill>
                <a:latin typeface="Arial" pitchFamily="34" charset="0"/>
                <a:ea typeface="Arial" pitchFamily="34" charset="-122"/>
                <a:cs typeface="Arial" pitchFamily="34" charset="-120"/>
              </a:rPr>
              <a:t>May</a:t>
            </a:r>
            <a:endParaRPr lang="en-US" sz="1300" dirty="0"/>
          </a:p>
        </p:txBody>
      </p:sp>
      <p:sp>
        <p:nvSpPr>
          <p:cNvPr id="6" name="Text 4"/>
          <p:cNvSpPr txBox="1"/>
          <p:nvPr/>
        </p:nvSpPr>
        <p:spPr>
          <a:xfrm>
            <a:off x="411480" y="2240280"/>
            <a:ext cx="1828800" cy="32004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Setup</a:t>
            </a:r>
            <a:endParaRPr lang="en-US" sz="1500" dirty="0"/>
          </a:p>
        </p:txBody>
      </p:sp>
      <p:sp>
        <p:nvSpPr>
          <p:cNvPr id="7" name="Text 5"/>
          <p:cNvSpPr txBox="1"/>
          <p:nvPr/>
        </p:nvSpPr>
        <p:spPr>
          <a:xfrm>
            <a:off x="438912" y="2578608"/>
            <a:ext cx="1773936" cy="128016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Repo, imagery, and QGIS maps set up with Tim Norris</a:t>
            </a:r>
            <a:endParaRPr lang="en-US" sz="1200" dirty="0"/>
          </a:p>
        </p:txBody>
      </p:sp>
      <p:sp>
        <p:nvSpPr>
          <p:cNvPr id="8" name="Shape 6"/>
          <p:cNvSpPr/>
          <p:nvPr/>
        </p:nvSpPr>
        <p:spPr>
          <a:xfrm>
            <a:off x="3136392" y="1911096"/>
            <a:ext cx="201168" cy="201168"/>
          </a:xfrm>
          <a:prstGeom prst="ellipse">
            <a:avLst/>
          </a:prstGeom>
          <a:solidFill>
            <a:srgbClr val="000000"/>
          </a:solidFill>
          <a:ln w="12700">
            <a:solidFill>
              <a:srgbClr val="000000"/>
            </a:solidFill>
            <a:prstDash val="solid"/>
          </a:ln>
        </p:spPr>
      </p:sp>
      <p:sp>
        <p:nvSpPr>
          <p:cNvPr id="9" name="Text 7"/>
          <p:cNvSpPr txBox="1"/>
          <p:nvPr/>
        </p:nvSpPr>
        <p:spPr>
          <a:xfrm>
            <a:off x="2322576" y="1444752"/>
            <a:ext cx="1828800" cy="320040"/>
          </a:xfrm>
          <a:prstGeom prst="rect">
            <a:avLst/>
          </a:prstGeom>
          <a:noFill/>
          <a:ln/>
        </p:spPr>
        <p:txBody>
          <a:bodyPr wrap="square" lIns="0" tIns="0" rIns="0" bIns="0" rtlCol="0" anchor="t"/>
          <a:lstStyle/>
          <a:p>
            <a:pPr algn="ctr" indent="0" marL="0">
              <a:buNone/>
            </a:pPr>
            <a:r>
              <a:rPr lang="en-US" sz="1300" dirty="0">
                <a:solidFill>
                  <a:srgbClr val="444444"/>
                </a:solidFill>
                <a:latin typeface="Arial" pitchFamily="34" charset="0"/>
                <a:ea typeface="Arial" pitchFamily="34" charset="-122"/>
                <a:cs typeface="Arial" pitchFamily="34" charset="-120"/>
              </a:rPr>
              <a:t>Jun 1 to 22</a:t>
            </a:r>
            <a:endParaRPr lang="en-US" sz="1300" dirty="0"/>
          </a:p>
        </p:txBody>
      </p:sp>
      <p:sp>
        <p:nvSpPr>
          <p:cNvPr id="10" name="Text 8"/>
          <p:cNvSpPr txBox="1"/>
          <p:nvPr/>
        </p:nvSpPr>
        <p:spPr>
          <a:xfrm>
            <a:off x="2322576" y="2240280"/>
            <a:ext cx="1828800" cy="32004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Build</a:t>
            </a:r>
            <a:endParaRPr lang="en-US" sz="1500" dirty="0"/>
          </a:p>
        </p:txBody>
      </p:sp>
      <p:sp>
        <p:nvSpPr>
          <p:cNvPr id="11" name="Text 9"/>
          <p:cNvSpPr txBox="1"/>
          <p:nvPr/>
        </p:nvSpPr>
        <p:spPr>
          <a:xfrm>
            <a:off x="2350008" y="2578608"/>
            <a:ext cx="1773936" cy="128016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Labels, split, tiling, first DeepForest model, region-swap test (s01 to s06)</a:t>
            </a:r>
            <a:endParaRPr lang="en-US" sz="1200" dirty="0"/>
          </a:p>
        </p:txBody>
      </p:sp>
      <p:sp>
        <p:nvSpPr>
          <p:cNvPr id="12" name="Shape 10"/>
          <p:cNvSpPr/>
          <p:nvPr/>
        </p:nvSpPr>
        <p:spPr>
          <a:xfrm>
            <a:off x="5047488" y="1911096"/>
            <a:ext cx="201168" cy="201168"/>
          </a:xfrm>
          <a:prstGeom prst="ellipse">
            <a:avLst/>
          </a:prstGeom>
          <a:solidFill>
            <a:srgbClr val="000000"/>
          </a:solidFill>
          <a:ln w="12700">
            <a:solidFill>
              <a:srgbClr val="000000"/>
            </a:solidFill>
            <a:prstDash val="solid"/>
          </a:ln>
        </p:spPr>
      </p:sp>
      <p:sp>
        <p:nvSpPr>
          <p:cNvPr id="13" name="Text 11"/>
          <p:cNvSpPr txBox="1"/>
          <p:nvPr/>
        </p:nvSpPr>
        <p:spPr>
          <a:xfrm>
            <a:off x="4233672" y="1444752"/>
            <a:ext cx="1828800" cy="320040"/>
          </a:xfrm>
          <a:prstGeom prst="rect">
            <a:avLst/>
          </a:prstGeom>
          <a:noFill/>
          <a:ln/>
        </p:spPr>
        <p:txBody>
          <a:bodyPr wrap="square" lIns="0" tIns="0" rIns="0" bIns="0" rtlCol="0" anchor="t"/>
          <a:lstStyle/>
          <a:p>
            <a:pPr algn="ctr" indent="0" marL="0">
              <a:buNone/>
            </a:pPr>
            <a:r>
              <a:rPr lang="en-US" sz="1300" dirty="0">
                <a:solidFill>
                  <a:srgbClr val="444444"/>
                </a:solidFill>
                <a:latin typeface="Arial" pitchFamily="34" charset="0"/>
                <a:ea typeface="Arial" pitchFamily="34" charset="-122"/>
                <a:cs typeface="Arial" pitchFamily="34" charset="-120"/>
              </a:rPr>
              <a:t>Jun 29 to Jul 21</a:t>
            </a:r>
            <a:endParaRPr lang="en-US" sz="1300" dirty="0"/>
          </a:p>
        </p:txBody>
      </p:sp>
      <p:sp>
        <p:nvSpPr>
          <p:cNvPr id="14" name="Text 12"/>
          <p:cNvSpPr txBox="1"/>
          <p:nvPr/>
        </p:nvSpPr>
        <p:spPr>
          <a:xfrm>
            <a:off x="4233672" y="2240280"/>
            <a:ext cx="1828800" cy="32004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Question the score</a:t>
            </a:r>
            <a:endParaRPr lang="en-US" sz="1500" dirty="0"/>
          </a:p>
        </p:txBody>
      </p:sp>
      <p:sp>
        <p:nvSpPr>
          <p:cNvPr id="15" name="Text 13"/>
          <p:cNvSpPr txBox="1"/>
          <p:nvPr/>
        </p:nvSpPr>
        <p:spPr>
          <a:xfrm>
            <a:off x="4261104" y="2578608"/>
            <a:ext cx="1773936" cy="128016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Species probe, recall tests, manual audit, clean evaluation area (s07 to s12)</a:t>
            </a:r>
            <a:endParaRPr lang="en-US" sz="1200" dirty="0"/>
          </a:p>
        </p:txBody>
      </p:sp>
      <p:sp>
        <p:nvSpPr>
          <p:cNvPr id="16" name="Shape 14"/>
          <p:cNvSpPr/>
          <p:nvPr/>
        </p:nvSpPr>
        <p:spPr>
          <a:xfrm>
            <a:off x="6958584" y="1911096"/>
            <a:ext cx="201168" cy="201168"/>
          </a:xfrm>
          <a:prstGeom prst="ellipse">
            <a:avLst/>
          </a:prstGeom>
          <a:solidFill>
            <a:srgbClr val="000000"/>
          </a:solidFill>
          <a:ln w="12700">
            <a:solidFill>
              <a:srgbClr val="000000"/>
            </a:solidFill>
            <a:prstDash val="solid"/>
          </a:ln>
        </p:spPr>
      </p:sp>
      <p:sp>
        <p:nvSpPr>
          <p:cNvPr id="17" name="Text 15"/>
          <p:cNvSpPr txBox="1"/>
          <p:nvPr/>
        </p:nvSpPr>
        <p:spPr>
          <a:xfrm>
            <a:off x="6144768" y="1444752"/>
            <a:ext cx="1828800" cy="320040"/>
          </a:xfrm>
          <a:prstGeom prst="rect">
            <a:avLst/>
          </a:prstGeom>
          <a:noFill/>
          <a:ln/>
        </p:spPr>
        <p:txBody>
          <a:bodyPr wrap="square" lIns="0" tIns="0" rIns="0" bIns="0" rtlCol="0" anchor="t"/>
          <a:lstStyle/>
          <a:p>
            <a:pPr algn="ctr" indent="0" marL="0">
              <a:buNone/>
            </a:pPr>
            <a:r>
              <a:rPr lang="en-US" sz="1300" dirty="0">
                <a:solidFill>
                  <a:srgbClr val="444444"/>
                </a:solidFill>
                <a:latin typeface="Arial" pitchFamily="34" charset="0"/>
                <a:ea typeface="Arial" pitchFamily="34" charset="-122"/>
                <a:cs typeface="Arial" pitchFamily="34" charset="-120"/>
              </a:rPr>
              <a:t>Jul 21 to 23</a:t>
            </a:r>
            <a:endParaRPr lang="en-US" sz="1300" dirty="0"/>
          </a:p>
        </p:txBody>
      </p:sp>
      <p:sp>
        <p:nvSpPr>
          <p:cNvPr id="18" name="Text 16"/>
          <p:cNvSpPr txBox="1"/>
          <p:nvPr/>
        </p:nvSpPr>
        <p:spPr>
          <a:xfrm>
            <a:off x="6144768" y="2240280"/>
            <a:ext cx="1828800" cy="32004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Big Cypress</a:t>
            </a:r>
            <a:endParaRPr lang="en-US" sz="1500" dirty="0"/>
          </a:p>
        </p:txBody>
      </p:sp>
      <p:sp>
        <p:nvSpPr>
          <p:cNvPr id="19" name="Text 17"/>
          <p:cNvSpPr txBox="1"/>
          <p:nvPr/>
        </p:nvSpPr>
        <p:spPr>
          <a:xfrm>
            <a:off x="6172200" y="2578608"/>
            <a:ext cx="1773936" cy="128016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Three detectors, species probe, size and alignment checks (s13 to s18)</a:t>
            </a:r>
            <a:endParaRPr lang="en-US" sz="1200" dirty="0"/>
          </a:p>
        </p:txBody>
      </p:sp>
      <p:sp>
        <p:nvSpPr>
          <p:cNvPr id="20" name="Shape 18"/>
          <p:cNvSpPr/>
          <p:nvPr/>
        </p:nvSpPr>
        <p:spPr>
          <a:xfrm>
            <a:off x="8869680" y="1911096"/>
            <a:ext cx="201168" cy="201168"/>
          </a:xfrm>
          <a:prstGeom prst="ellipse">
            <a:avLst/>
          </a:prstGeom>
          <a:solidFill>
            <a:srgbClr val="000000"/>
          </a:solidFill>
          <a:ln w="12700">
            <a:solidFill>
              <a:srgbClr val="000000"/>
            </a:solidFill>
            <a:prstDash val="solid"/>
          </a:ln>
        </p:spPr>
      </p:sp>
      <p:sp>
        <p:nvSpPr>
          <p:cNvPr id="21" name="Text 19"/>
          <p:cNvSpPr txBox="1"/>
          <p:nvPr/>
        </p:nvSpPr>
        <p:spPr>
          <a:xfrm>
            <a:off x="8055864" y="1444752"/>
            <a:ext cx="1828800" cy="320040"/>
          </a:xfrm>
          <a:prstGeom prst="rect">
            <a:avLst/>
          </a:prstGeom>
          <a:noFill/>
          <a:ln/>
        </p:spPr>
        <p:txBody>
          <a:bodyPr wrap="square" lIns="0" tIns="0" rIns="0" bIns="0" rtlCol="0" anchor="t"/>
          <a:lstStyle/>
          <a:p>
            <a:pPr algn="ctr" indent="0" marL="0">
              <a:buNone/>
            </a:pPr>
            <a:r>
              <a:rPr lang="en-US" sz="1300" dirty="0">
                <a:solidFill>
                  <a:srgbClr val="444444"/>
                </a:solidFill>
                <a:latin typeface="Arial" pitchFamily="34" charset="0"/>
                <a:ea typeface="Arial" pitchFamily="34" charset="-122"/>
                <a:cs typeface="Arial" pitchFamily="34" charset="-120"/>
              </a:rPr>
              <a:t>Jul 28 to Aug 7</a:t>
            </a:r>
            <a:endParaRPr lang="en-US" sz="1300" dirty="0"/>
          </a:p>
        </p:txBody>
      </p:sp>
      <p:sp>
        <p:nvSpPr>
          <p:cNvPr id="22" name="Text 20"/>
          <p:cNvSpPr txBox="1"/>
          <p:nvPr/>
        </p:nvSpPr>
        <p:spPr>
          <a:xfrm>
            <a:off x="8055864" y="2240280"/>
            <a:ext cx="1828800" cy="32004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Consolidate</a:t>
            </a:r>
            <a:endParaRPr lang="en-US" sz="1500" dirty="0"/>
          </a:p>
        </p:txBody>
      </p:sp>
      <p:sp>
        <p:nvSpPr>
          <p:cNvPr id="23" name="Text 21"/>
          <p:cNvSpPr txBox="1"/>
          <p:nvPr/>
        </p:nvSpPr>
        <p:spPr>
          <a:xfrm>
            <a:off x="8083296" y="2578608"/>
            <a:ext cx="1773936" cy="128016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Fair distance-based scoring, from-scratch CNN, 3-way benchmark (s19, s20)</a:t>
            </a:r>
            <a:endParaRPr lang="en-US" sz="1200" dirty="0"/>
          </a:p>
        </p:txBody>
      </p:sp>
      <p:sp>
        <p:nvSpPr>
          <p:cNvPr id="24" name="Shape 22"/>
          <p:cNvSpPr/>
          <p:nvPr/>
        </p:nvSpPr>
        <p:spPr>
          <a:xfrm>
            <a:off x="10780776" y="1911096"/>
            <a:ext cx="201168" cy="201168"/>
          </a:xfrm>
          <a:prstGeom prst="ellipse">
            <a:avLst/>
          </a:prstGeom>
          <a:solidFill>
            <a:srgbClr val="000000"/>
          </a:solidFill>
          <a:ln w="12700">
            <a:solidFill>
              <a:srgbClr val="000000"/>
            </a:solidFill>
            <a:prstDash val="solid"/>
          </a:ln>
        </p:spPr>
      </p:sp>
      <p:sp>
        <p:nvSpPr>
          <p:cNvPr id="25" name="Text 23"/>
          <p:cNvSpPr txBox="1"/>
          <p:nvPr/>
        </p:nvSpPr>
        <p:spPr>
          <a:xfrm>
            <a:off x="9966960" y="1444752"/>
            <a:ext cx="1828800" cy="320040"/>
          </a:xfrm>
          <a:prstGeom prst="rect">
            <a:avLst/>
          </a:prstGeom>
          <a:noFill/>
          <a:ln/>
        </p:spPr>
        <p:txBody>
          <a:bodyPr wrap="square" lIns="0" tIns="0" rIns="0" bIns="0" rtlCol="0" anchor="t"/>
          <a:lstStyle/>
          <a:p>
            <a:pPr algn="ctr" indent="0" marL="0">
              <a:buNone/>
            </a:pPr>
            <a:r>
              <a:rPr lang="en-US" sz="1300" dirty="0">
                <a:solidFill>
                  <a:srgbClr val="444444"/>
                </a:solidFill>
                <a:latin typeface="Arial" pitchFamily="34" charset="0"/>
                <a:ea typeface="Arial" pitchFamily="34" charset="-122"/>
                <a:cs typeface="Arial" pitchFamily="34" charset="-120"/>
              </a:rPr>
              <a:t>Aug to Sep</a:t>
            </a:r>
            <a:endParaRPr lang="en-US" sz="1300" dirty="0"/>
          </a:p>
        </p:txBody>
      </p:sp>
      <p:sp>
        <p:nvSpPr>
          <p:cNvPr id="26" name="Text 24"/>
          <p:cNvSpPr txBox="1"/>
          <p:nvPr/>
        </p:nvSpPr>
        <p:spPr>
          <a:xfrm>
            <a:off x="9966960" y="2240280"/>
            <a:ext cx="1828800" cy="320040"/>
          </a:xfrm>
          <a:prstGeom prst="rect">
            <a:avLst/>
          </a:prstGeom>
          <a:noFill/>
          <a:ln/>
        </p:spPr>
        <p:txBody>
          <a:bodyPr wrap="square" lIns="0" tIns="0" rIns="0" bIns="0" rtlCol="0" anchor="t"/>
          <a:lstStyle/>
          <a:p>
            <a:pPr algn="ctr" indent="0" marL="0">
              <a:buNone/>
            </a:pPr>
            <a:r>
              <a:rPr lang="en-US" sz="1500" b="1" dirty="0">
                <a:solidFill>
                  <a:srgbClr val="000000"/>
                </a:solidFill>
                <a:latin typeface="Arial" pitchFamily="34" charset="0"/>
                <a:ea typeface="Arial" pitchFamily="34" charset="-122"/>
                <a:cs typeface="Arial" pitchFamily="34" charset="-120"/>
              </a:rPr>
              <a:t>Write-up</a:t>
            </a:r>
            <a:endParaRPr lang="en-US" sz="1500" dirty="0"/>
          </a:p>
        </p:txBody>
      </p:sp>
      <p:sp>
        <p:nvSpPr>
          <p:cNvPr id="27" name="Text 25"/>
          <p:cNvSpPr txBox="1"/>
          <p:nvPr/>
        </p:nvSpPr>
        <p:spPr>
          <a:xfrm>
            <a:off x="9994392" y="2578608"/>
            <a:ext cx="1773936" cy="1280160"/>
          </a:xfrm>
          <a:prstGeom prst="rect">
            <a:avLst/>
          </a:prstGeom>
          <a:noFill/>
          <a:ln/>
        </p:spPr>
        <p:txBody>
          <a:bodyPr wrap="squar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Synthesis, READMEs, this talk</a:t>
            </a:r>
            <a:endParaRPr lang="en-US" sz="1200" dirty="0"/>
          </a:p>
        </p:txBody>
      </p:sp>
      <p:sp>
        <p:nvSpPr>
          <p:cNvPr id="28" name="Text 26"/>
          <p:cNvSpPr txBox="1"/>
          <p:nvPr/>
        </p:nvSpPr>
        <p:spPr>
          <a:xfrm>
            <a:off x="548640" y="4160520"/>
            <a:ext cx="5486400" cy="36576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How it was built</a:t>
            </a:r>
            <a:endParaRPr lang="en-US" sz="1800" dirty="0"/>
          </a:p>
        </p:txBody>
      </p:sp>
      <p:sp>
        <p:nvSpPr>
          <p:cNvPr id="29" name="Text 27"/>
          <p:cNvSpPr txBox="1"/>
          <p:nvPr/>
        </p:nvSpPr>
        <p:spPr>
          <a:xfrm>
            <a:off x="548640" y="4663440"/>
            <a:ext cx="2560320" cy="563880"/>
          </a:xfrm>
          <a:prstGeom prst="rect">
            <a:avLst/>
          </a:prstGeom>
          <a:noFill/>
          <a:ln/>
        </p:spPr>
        <p:txBody>
          <a:bodyPr wrap="square" lIns="0" tIns="0" rIns="0" bIns="0" rtlCol="0" anchor="t"/>
          <a:lstStyle/>
          <a:p>
            <a:pPr indent="0" marL="0">
              <a:buNone/>
            </a:pPr>
            <a:r>
              <a:rPr lang="en-US" sz="2800" b="1" dirty="0">
                <a:solidFill>
                  <a:srgbClr val="000000"/>
                </a:solidFill>
                <a:latin typeface="Arial" pitchFamily="34" charset="0"/>
                <a:ea typeface="Arial" pitchFamily="34" charset="-122"/>
                <a:cs typeface="Arial" pitchFamily="34" charset="-120"/>
              </a:rPr>
              <a:t>20</a:t>
            </a:r>
            <a:endParaRPr lang="en-US" sz="2800" dirty="0"/>
          </a:p>
        </p:txBody>
      </p:sp>
      <p:sp>
        <p:nvSpPr>
          <p:cNvPr id="30" name="Text 28"/>
          <p:cNvSpPr txBox="1"/>
          <p:nvPr/>
        </p:nvSpPr>
        <p:spPr>
          <a:xfrm>
            <a:off x="548640" y="5254752"/>
            <a:ext cx="256032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numbered scripts, each one answering one question</a:t>
            </a:r>
            <a:endParaRPr lang="en-US" sz="1300" dirty="0"/>
          </a:p>
        </p:txBody>
      </p:sp>
      <p:sp>
        <p:nvSpPr>
          <p:cNvPr id="31" name="Text 29"/>
          <p:cNvSpPr txBox="1"/>
          <p:nvPr/>
        </p:nvSpPr>
        <p:spPr>
          <a:xfrm>
            <a:off x="3383280" y="4663440"/>
            <a:ext cx="2560320" cy="563880"/>
          </a:xfrm>
          <a:prstGeom prst="rect">
            <a:avLst/>
          </a:prstGeom>
          <a:noFill/>
          <a:ln/>
        </p:spPr>
        <p:txBody>
          <a:bodyPr wrap="square" lIns="0" tIns="0" rIns="0" bIns="0" rtlCol="0" anchor="t"/>
          <a:lstStyle/>
          <a:p>
            <a:pPr indent="0" marL="0">
              <a:buNone/>
            </a:pPr>
            <a:r>
              <a:rPr lang="en-US" sz="2800" b="1" dirty="0">
                <a:solidFill>
                  <a:srgbClr val="000000"/>
                </a:solidFill>
                <a:latin typeface="Arial" pitchFamily="34" charset="0"/>
                <a:ea typeface="Arial" pitchFamily="34" charset="-122"/>
                <a:cs typeface="Arial" pitchFamily="34" charset="-120"/>
              </a:rPr>
              <a:t>25</a:t>
            </a:r>
            <a:endParaRPr lang="en-US" sz="2800" dirty="0"/>
          </a:p>
        </p:txBody>
      </p:sp>
      <p:sp>
        <p:nvSpPr>
          <p:cNvPr id="32" name="Text 30"/>
          <p:cNvSpPr txBox="1"/>
          <p:nvPr/>
        </p:nvSpPr>
        <p:spPr>
          <a:xfrm>
            <a:off x="3383280" y="5254752"/>
            <a:ext cx="256032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commits, each a finished experiment with its results</a:t>
            </a:r>
            <a:endParaRPr lang="en-US" sz="1300" dirty="0"/>
          </a:p>
        </p:txBody>
      </p:sp>
      <p:sp>
        <p:nvSpPr>
          <p:cNvPr id="33" name="Text 31"/>
          <p:cNvSpPr txBox="1"/>
          <p:nvPr/>
        </p:nvSpPr>
        <p:spPr>
          <a:xfrm>
            <a:off x="6217920" y="4663440"/>
            <a:ext cx="2560320" cy="563880"/>
          </a:xfrm>
          <a:prstGeom prst="rect">
            <a:avLst/>
          </a:prstGeom>
          <a:noFill/>
          <a:ln/>
        </p:spPr>
        <p:txBody>
          <a:bodyPr wrap="square" lIns="0" tIns="0" rIns="0" bIns="0" rtlCol="0" anchor="t"/>
          <a:lstStyle/>
          <a:p>
            <a:pPr indent="0" marL="0">
              <a:buNone/>
            </a:pPr>
            <a:r>
              <a:rPr lang="en-US" sz="2800" b="1" dirty="0">
                <a:solidFill>
                  <a:srgbClr val="000000"/>
                </a:solidFill>
                <a:latin typeface="Arial" pitchFamily="34" charset="0"/>
                <a:ea typeface="Arial" pitchFamily="34" charset="-122"/>
                <a:cs typeface="Arial" pitchFamily="34" charset="-120"/>
              </a:rPr>
              <a:t>Every step</a:t>
            </a:r>
            <a:endParaRPr lang="en-US" sz="2800" dirty="0"/>
          </a:p>
        </p:txBody>
      </p:sp>
      <p:sp>
        <p:nvSpPr>
          <p:cNvPr id="34" name="Text 32"/>
          <p:cNvSpPr txBox="1"/>
          <p:nvPr/>
        </p:nvSpPr>
        <p:spPr>
          <a:xfrm>
            <a:off x="6217920" y="5254752"/>
            <a:ext cx="256032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saves a figure and a CSV, so results get checked by eye</a:t>
            </a:r>
            <a:endParaRPr lang="en-US" sz="1300" dirty="0"/>
          </a:p>
        </p:txBody>
      </p:sp>
      <p:sp>
        <p:nvSpPr>
          <p:cNvPr id="35" name="Text 33"/>
          <p:cNvSpPr txBox="1"/>
          <p:nvPr/>
        </p:nvSpPr>
        <p:spPr>
          <a:xfrm>
            <a:off x="9052560" y="4663440"/>
            <a:ext cx="2560320" cy="563880"/>
          </a:xfrm>
          <a:prstGeom prst="rect">
            <a:avLst/>
          </a:prstGeom>
          <a:noFill/>
          <a:ln/>
        </p:spPr>
        <p:txBody>
          <a:bodyPr wrap="square" lIns="0" tIns="0" rIns="0" bIns="0" rtlCol="0" anchor="t"/>
          <a:lstStyle/>
          <a:p>
            <a:pPr indent="0" marL="0">
              <a:buNone/>
            </a:pPr>
            <a:r>
              <a:rPr lang="en-US" sz="2800" b="1" dirty="0">
                <a:solidFill>
                  <a:srgbClr val="000000"/>
                </a:solidFill>
                <a:latin typeface="Arial" pitchFamily="34" charset="0"/>
                <a:ea typeface="Arial" pitchFamily="34" charset="-122"/>
                <a:cs typeface="Arial" pitchFamily="34" charset="-120"/>
              </a:rPr>
              <a:t>1 laptop</a:t>
            </a:r>
            <a:endParaRPr lang="en-US" sz="2800" dirty="0"/>
          </a:p>
        </p:txBody>
      </p:sp>
      <p:sp>
        <p:nvSpPr>
          <p:cNvPr id="36" name="Text 34"/>
          <p:cNvSpPr txBox="1"/>
          <p:nvPr/>
        </p:nvSpPr>
        <p:spPr>
          <a:xfrm>
            <a:off x="9052560" y="5254752"/>
            <a:ext cx="256032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all training on a MacBook (M3 Pro, 18 GB, Apple GPU)</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Architecture: from drone photo to tree map</a:t>
            </a:r>
            <a:endParaRPr lang="en-US" sz="3000" dirty="0"/>
          </a:p>
        </p:txBody>
      </p:sp>
      <p:sp>
        <p:nvSpPr>
          <p:cNvPr id="3" name="Shape 1"/>
          <p:cNvSpPr/>
          <p:nvPr/>
        </p:nvSpPr>
        <p:spPr>
          <a:xfrm>
            <a:off x="548640" y="1325880"/>
            <a:ext cx="1645920" cy="2514600"/>
          </a:xfrm>
          <a:prstGeom prst="rect">
            <a:avLst/>
          </a:prstGeom>
          <a:solidFill>
            <a:srgbClr val="FFFFFF"/>
          </a:solidFill>
          <a:ln w="12700">
            <a:solidFill>
              <a:srgbClr val="000000"/>
            </a:solidFill>
            <a:prstDash val="solid"/>
          </a:ln>
        </p:spPr>
      </p:sp>
      <p:sp>
        <p:nvSpPr>
          <p:cNvPr id="4" name="Text 2"/>
          <p:cNvSpPr txBox="1"/>
          <p:nvPr/>
        </p:nvSpPr>
        <p:spPr>
          <a:xfrm>
            <a:off x="640080" y="1417320"/>
            <a:ext cx="1463040"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1. Inputs</a:t>
            </a:r>
            <a:endParaRPr lang="en-US" sz="1400" dirty="0"/>
          </a:p>
        </p:txBody>
      </p:sp>
      <p:sp>
        <p:nvSpPr>
          <p:cNvPr id="5" name="Text 3"/>
          <p:cNvSpPr txBox="1"/>
          <p:nvPr/>
        </p:nvSpPr>
        <p:spPr>
          <a:xfrm>
            <a:off x="640080" y="1783080"/>
            <a:ext cx="1463040" cy="1965960"/>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Drone orthomosaic (RGB GeoTIFF)</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Tree locations as points: campus inventory, Big Cypress plot census</a:t>
            </a:r>
            <a:endParaRPr lang="en-US" sz="1150" dirty="0"/>
          </a:p>
        </p:txBody>
      </p:sp>
      <p:sp>
        <p:nvSpPr>
          <p:cNvPr id="6" name="Shape 4"/>
          <p:cNvSpPr/>
          <p:nvPr/>
        </p:nvSpPr>
        <p:spPr>
          <a:xfrm>
            <a:off x="2221992" y="2583180"/>
            <a:ext cx="219456" cy="0"/>
          </a:xfrm>
          <a:prstGeom prst="line">
            <a:avLst/>
          </a:prstGeom>
          <a:noFill/>
          <a:ln w="15875">
            <a:solidFill>
              <a:srgbClr val="000000"/>
            </a:solidFill>
            <a:prstDash val="solid"/>
            <a:tailEnd type="triangle"/>
          </a:ln>
        </p:spPr>
      </p:sp>
      <p:sp>
        <p:nvSpPr>
          <p:cNvPr id="7" name="Shape 5"/>
          <p:cNvSpPr/>
          <p:nvPr/>
        </p:nvSpPr>
        <p:spPr>
          <a:xfrm>
            <a:off x="2468880" y="1325880"/>
            <a:ext cx="1645920" cy="2514600"/>
          </a:xfrm>
          <a:prstGeom prst="rect">
            <a:avLst/>
          </a:prstGeom>
          <a:solidFill>
            <a:srgbClr val="FFFFFF"/>
          </a:solidFill>
          <a:ln w="12700">
            <a:solidFill>
              <a:srgbClr val="000000"/>
            </a:solidFill>
            <a:prstDash val="solid"/>
          </a:ln>
        </p:spPr>
      </p:sp>
      <p:sp>
        <p:nvSpPr>
          <p:cNvPr id="8" name="Text 6"/>
          <p:cNvSpPr txBox="1"/>
          <p:nvPr/>
        </p:nvSpPr>
        <p:spPr>
          <a:xfrm>
            <a:off x="2560320" y="1417320"/>
            <a:ext cx="1463040"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2. Labels</a:t>
            </a:r>
            <a:endParaRPr lang="en-US" sz="1400" dirty="0"/>
          </a:p>
        </p:txBody>
      </p:sp>
      <p:sp>
        <p:nvSpPr>
          <p:cNvPr id="9" name="Text 7"/>
          <p:cNvSpPr txBox="1"/>
          <p:nvPr/>
        </p:nvSpPr>
        <p:spPr>
          <a:xfrm>
            <a:off x="2560320" y="1783080"/>
            <a:ext cx="1463040" cy="1965960"/>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Point-first: one label per real tree</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A box (DeepForest, YOLO) or a soft blob on a heatmap (my CNN)</a:t>
            </a:r>
            <a:endParaRPr lang="en-US" sz="1150" dirty="0"/>
          </a:p>
        </p:txBody>
      </p:sp>
      <p:sp>
        <p:nvSpPr>
          <p:cNvPr id="10" name="Shape 8"/>
          <p:cNvSpPr/>
          <p:nvPr/>
        </p:nvSpPr>
        <p:spPr>
          <a:xfrm>
            <a:off x="4142232" y="2583180"/>
            <a:ext cx="219456" cy="0"/>
          </a:xfrm>
          <a:prstGeom prst="line">
            <a:avLst/>
          </a:prstGeom>
          <a:noFill/>
          <a:ln w="15875">
            <a:solidFill>
              <a:srgbClr val="000000"/>
            </a:solidFill>
            <a:prstDash val="solid"/>
            <a:tailEnd type="triangle"/>
          </a:ln>
        </p:spPr>
      </p:sp>
      <p:sp>
        <p:nvSpPr>
          <p:cNvPr id="11" name="Shape 9"/>
          <p:cNvSpPr/>
          <p:nvPr/>
        </p:nvSpPr>
        <p:spPr>
          <a:xfrm>
            <a:off x="4389120" y="1325880"/>
            <a:ext cx="1645920" cy="2514600"/>
          </a:xfrm>
          <a:prstGeom prst="rect">
            <a:avLst/>
          </a:prstGeom>
          <a:solidFill>
            <a:srgbClr val="FFFFFF"/>
          </a:solidFill>
          <a:ln w="12700">
            <a:solidFill>
              <a:srgbClr val="000000"/>
            </a:solidFill>
            <a:prstDash val="solid"/>
          </a:ln>
        </p:spPr>
      </p:sp>
      <p:sp>
        <p:nvSpPr>
          <p:cNvPr id="12" name="Text 10"/>
          <p:cNvSpPr txBox="1"/>
          <p:nvPr/>
        </p:nvSpPr>
        <p:spPr>
          <a:xfrm>
            <a:off x="4480560" y="1417320"/>
            <a:ext cx="1463040"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3. Split + chips</a:t>
            </a:r>
            <a:endParaRPr lang="en-US" sz="1400" dirty="0"/>
          </a:p>
        </p:txBody>
      </p:sp>
      <p:sp>
        <p:nvSpPr>
          <p:cNvPr id="13" name="Text 11"/>
          <p:cNvSpPr txBox="1"/>
          <p:nvPr/>
        </p:nvSpPr>
        <p:spPr>
          <a:xfrm>
            <a:off x="4480560" y="1783080"/>
            <a:ext cx="1463040" cy="1965960"/>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Split by geography: region or whole plot</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Cut into small chips, reading one window at a time</a:t>
            </a:r>
            <a:endParaRPr lang="en-US" sz="1150" dirty="0"/>
          </a:p>
        </p:txBody>
      </p:sp>
      <p:sp>
        <p:nvSpPr>
          <p:cNvPr id="14" name="Shape 12"/>
          <p:cNvSpPr/>
          <p:nvPr/>
        </p:nvSpPr>
        <p:spPr>
          <a:xfrm>
            <a:off x="6062472" y="2583180"/>
            <a:ext cx="219456" cy="0"/>
          </a:xfrm>
          <a:prstGeom prst="line">
            <a:avLst/>
          </a:prstGeom>
          <a:noFill/>
          <a:ln w="15875">
            <a:solidFill>
              <a:srgbClr val="000000"/>
            </a:solidFill>
            <a:prstDash val="solid"/>
            <a:tailEnd type="triangle"/>
          </a:ln>
        </p:spPr>
      </p:sp>
      <p:sp>
        <p:nvSpPr>
          <p:cNvPr id="15" name="Shape 13"/>
          <p:cNvSpPr/>
          <p:nvPr/>
        </p:nvSpPr>
        <p:spPr>
          <a:xfrm>
            <a:off x="6309360" y="1325880"/>
            <a:ext cx="2148840" cy="758952"/>
          </a:xfrm>
          <a:prstGeom prst="rect">
            <a:avLst/>
          </a:prstGeom>
          <a:solidFill>
            <a:srgbClr val="FFFFFF"/>
          </a:solidFill>
          <a:ln w="12700">
            <a:solidFill>
              <a:srgbClr val="000000"/>
            </a:solidFill>
            <a:prstDash val="solid"/>
          </a:ln>
        </p:spPr>
      </p:sp>
      <p:sp>
        <p:nvSpPr>
          <p:cNvPr id="16" name="Text 14"/>
          <p:cNvSpPr txBox="1"/>
          <p:nvPr/>
        </p:nvSpPr>
        <p:spPr>
          <a:xfrm>
            <a:off x="6400800" y="1389888"/>
            <a:ext cx="1965960" cy="667512"/>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DeepForest</a:t>
            </a: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RetinaNet, pretrained on forests</a:t>
            </a:r>
            <a:endParaRPr lang="en-US" sz="1150" dirty="0"/>
          </a:p>
        </p:txBody>
      </p:sp>
      <p:sp>
        <p:nvSpPr>
          <p:cNvPr id="17" name="Shape 15"/>
          <p:cNvSpPr/>
          <p:nvPr/>
        </p:nvSpPr>
        <p:spPr>
          <a:xfrm>
            <a:off x="6309360" y="2203704"/>
            <a:ext cx="2148840" cy="758952"/>
          </a:xfrm>
          <a:prstGeom prst="rect">
            <a:avLst/>
          </a:prstGeom>
          <a:solidFill>
            <a:srgbClr val="FFFFFF"/>
          </a:solidFill>
          <a:ln w="12700">
            <a:solidFill>
              <a:srgbClr val="000000"/>
            </a:solidFill>
            <a:prstDash val="solid"/>
          </a:ln>
        </p:spPr>
      </p:sp>
      <p:sp>
        <p:nvSpPr>
          <p:cNvPr id="18" name="Text 16"/>
          <p:cNvSpPr txBox="1"/>
          <p:nvPr/>
        </p:nvSpPr>
        <p:spPr>
          <a:xfrm>
            <a:off x="6400800" y="2267712"/>
            <a:ext cx="1965960" cy="667512"/>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YOLO26s</a:t>
            </a: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COCO-pretrained, Ahsan's recipe</a:t>
            </a:r>
            <a:endParaRPr lang="en-US" sz="1150" dirty="0"/>
          </a:p>
        </p:txBody>
      </p:sp>
      <p:sp>
        <p:nvSpPr>
          <p:cNvPr id="19" name="Shape 17"/>
          <p:cNvSpPr/>
          <p:nvPr/>
        </p:nvSpPr>
        <p:spPr>
          <a:xfrm>
            <a:off x="6309360" y="3081528"/>
            <a:ext cx="2148840" cy="758952"/>
          </a:xfrm>
          <a:prstGeom prst="rect">
            <a:avLst/>
          </a:prstGeom>
          <a:solidFill>
            <a:srgbClr val="FFFFFF"/>
          </a:solidFill>
          <a:ln w="12700">
            <a:solidFill>
              <a:srgbClr val="000000"/>
            </a:solidFill>
            <a:prstDash val="solid"/>
          </a:ln>
        </p:spPr>
      </p:sp>
      <p:sp>
        <p:nvSpPr>
          <p:cNvPr id="20" name="Text 18"/>
          <p:cNvSpPr txBox="1"/>
          <p:nvPr/>
        </p:nvSpPr>
        <p:spPr>
          <a:xfrm>
            <a:off x="6400800" y="3145536"/>
            <a:ext cx="1965960" cy="667512"/>
          </a:xfrm>
          <a:prstGeom prst="rect">
            <a:avLst/>
          </a:prstGeom>
          <a:noFill/>
          <a:ln/>
        </p:spPr>
        <p:txBody>
          <a:bodyPr wrap="square" lIns="0" tIns="0" rIns="0" bIns="0" rtlCol="0" anchor="t"/>
          <a:lstStyle/>
          <a:p>
            <a:pPr indent="0" marL="0">
              <a:buNone/>
            </a:pPr>
            <a:r>
              <a:rPr lang="en-US" sz="1150" b="1" dirty="0">
                <a:solidFill>
                  <a:srgbClr val="000000"/>
                </a:solidFill>
                <a:latin typeface="Arial" pitchFamily="34" charset="0"/>
                <a:ea typeface="Arial" pitchFamily="34" charset="-122"/>
                <a:cs typeface="Arial" pitchFamily="34" charset="-120"/>
              </a:rPr>
              <a:t>TreeNet (mine)</a:t>
            </a: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heatmap CNN from scratch, ~2 M params</a:t>
            </a:r>
            <a:endParaRPr lang="en-US" sz="1150" dirty="0"/>
          </a:p>
        </p:txBody>
      </p:sp>
      <p:sp>
        <p:nvSpPr>
          <p:cNvPr id="21" name="Shape 19"/>
          <p:cNvSpPr/>
          <p:nvPr/>
        </p:nvSpPr>
        <p:spPr>
          <a:xfrm>
            <a:off x="8485632" y="2583180"/>
            <a:ext cx="219456" cy="0"/>
          </a:xfrm>
          <a:prstGeom prst="line">
            <a:avLst/>
          </a:prstGeom>
          <a:noFill/>
          <a:ln w="15875">
            <a:solidFill>
              <a:srgbClr val="000000"/>
            </a:solidFill>
            <a:prstDash val="solid"/>
            <a:tailEnd type="triangle"/>
          </a:ln>
        </p:spPr>
      </p:sp>
      <p:sp>
        <p:nvSpPr>
          <p:cNvPr id="22" name="Shape 20"/>
          <p:cNvSpPr/>
          <p:nvPr/>
        </p:nvSpPr>
        <p:spPr>
          <a:xfrm>
            <a:off x="8732520" y="1325880"/>
            <a:ext cx="1645920" cy="2514600"/>
          </a:xfrm>
          <a:prstGeom prst="rect">
            <a:avLst/>
          </a:prstGeom>
          <a:solidFill>
            <a:srgbClr val="FFFFFF"/>
          </a:solidFill>
          <a:ln w="12700">
            <a:solidFill>
              <a:srgbClr val="000000"/>
            </a:solidFill>
            <a:prstDash val="solid"/>
          </a:ln>
        </p:spPr>
      </p:sp>
      <p:sp>
        <p:nvSpPr>
          <p:cNvPr id="23" name="Text 21"/>
          <p:cNvSpPr txBox="1"/>
          <p:nvPr/>
        </p:nvSpPr>
        <p:spPr>
          <a:xfrm>
            <a:off x="8823960" y="1417320"/>
            <a:ext cx="1463040"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5. Scoring</a:t>
            </a:r>
            <a:endParaRPr lang="en-US" sz="1400" dirty="0"/>
          </a:p>
        </p:txBody>
      </p:sp>
      <p:sp>
        <p:nvSpPr>
          <p:cNvPr id="24" name="Text 22"/>
          <p:cNvSpPr txBox="1"/>
          <p:nvPr/>
        </p:nvSpPr>
        <p:spPr>
          <a:xfrm>
            <a:off x="8823960" y="1783080"/>
            <a:ext cx="1463040" cy="1965960"/>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Each prediction becomes a point</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Matched to nearest real tree (1, 2, 5 m)</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Compared to random scatter</a:t>
            </a:r>
            <a:endParaRPr lang="en-US" sz="1150" dirty="0"/>
          </a:p>
        </p:txBody>
      </p:sp>
      <p:sp>
        <p:nvSpPr>
          <p:cNvPr id="25" name="Shape 23"/>
          <p:cNvSpPr/>
          <p:nvPr/>
        </p:nvSpPr>
        <p:spPr>
          <a:xfrm>
            <a:off x="10405872" y="2583180"/>
            <a:ext cx="219456" cy="0"/>
          </a:xfrm>
          <a:prstGeom prst="line">
            <a:avLst/>
          </a:prstGeom>
          <a:noFill/>
          <a:ln w="15875">
            <a:solidFill>
              <a:srgbClr val="000000"/>
            </a:solidFill>
            <a:prstDash val="solid"/>
            <a:tailEnd type="triangle"/>
          </a:ln>
        </p:spPr>
      </p:sp>
      <p:sp>
        <p:nvSpPr>
          <p:cNvPr id="26" name="Shape 24"/>
          <p:cNvSpPr/>
          <p:nvPr/>
        </p:nvSpPr>
        <p:spPr>
          <a:xfrm>
            <a:off x="10652760" y="1325880"/>
            <a:ext cx="1371600" cy="2514600"/>
          </a:xfrm>
          <a:prstGeom prst="rect">
            <a:avLst/>
          </a:prstGeom>
          <a:solidFill>
            <a:srgbClr val="FFFFFF"/>
          </a:solidFill>
          <a:ln w="12700">
            <a:solidFill>
              <a:srgbClr val="000000"/>
            </a:solidFill>
            <a:prstDash val="solid"/>
          </a:ln>
        </p:spPr>
      </p:sp>
      <p:sp>
        <p:nvSpPr>
          <p:cNvPr id="27" name="Text 25"/>
          <p:cNvSpPr txBox="1"/>
          <p:nvPr/>
        </p:nvSpPr>
        <p:spPr>
          <a:xfrm>
            <a:off x="10744200" y="1417320"/>
            <a:ext cx="1188720"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6. Outputs</a:t>
            </a:r>
            <a:endParaRPr lang="en-US" sz="1400" dirty="0"/>
          </a:p>
        </p:txBody>
      </p:sp>
      <p:sp>
        <p:nvSpPr>
          <p:cNvPr id="28" name="Text 26"/>
          <p:cNvSpPr txBox="1"/>
          <p:nvPr/>
        </p:nvSpPr>
        <p:spPr>
          <a:xfrm>
            <a:off x="10744200" y="1783080"/>
            <a:ext cx="1188720" cy="1965960"/>
          </a:xfrm>
          <a:prstGeom prst="rect">
            <a:avLst/>
          </a:prstGeom>
          <a:noFill/>
          <a:ln/>
        </p:spPr>
        <p:txBody>
          <a:bodyPr wrap="square" lIns="0" tIns="0" rIns="0" bIns="0" rtlCol="0" anchor="t"/>
          <a:lstStyle/>
          <a:p>
            <a:pPr indent="0" marL="0">
              <a:buNone/>
            </a:pPr>
            <a:r>
              <a:rPr lang="en-US" sz="1150" dirty="0">
                <a:solidFill>
                  <a:srgbClr val="000000"/>
                </a:solidFill>
                <a:latin typeface="Arial" pitchFamily="34" charset="0"/>
                <a:ea typeface="Arial" pitchFamily="34" charset="-122"/>
                <a:cs typeface="Arial" pitchFamily="34" charset="-120"/>
              </a:rPr>
              <a:t>Tree points for QGIS</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Metrics CSV</a:t>
            </a:r>
            <a:endParaRPr lang="en-US" sz="1150" dirty="0"/>
          </a:p>
          <a:p>
            <a:pPr indent="0" marL="0">
              <a:buNone/>
            </a:pPr>
            <a:endParaRPr lang="en-US" sz="1150" dirty="0"/>
          </a:p>
          <a:p>
            <a:pPr indent="0" marL="0">
              <a:buNone/>
            </a:pPr>
            <a:r>
              <a:rPr lang="en-US" sz="1150" dirty="0">
                <a:solidFill>
                  <a:srgbClr val="000000"/>
                </a:solidFill>
                <a:latin typeface="Arial" pitchFamily="34" charset="0"/>
                <a:ea typeface="Arial" pitchFamily="34" charset="-122"/>
                <a:cs typeface="Arial" pitchFamily="34" charset="-120"/>
              </a:rPr>
              <a:t>Figures</a:t>
            </a:r>
            <a:endParaRPr lang="en-US" sz="1150" dirty="0"/>
          </a:p>
        </p:txBody>
      </p:sp>
      <p:sp>
        <p:nvSpPr>
          <p:cNvPr id="29" name="Shape 27"/>
          <p:cNvSpPr/>
          <p:nvPr/>
        </p:nvSpPr>
        <p:spPr>
          <a:xfrm>
            <a:off x="548640" y="4343400"/>
            <a:ext cx="11094415" cy="731520"/>
          </a:xfrm>
          <a:prstGeom prst="rect">
            <a:avLst/>
          </a:prstGeom>
          <a:solidFill>
            <a:srgbClr val="FFFFFF"/>
          </a:solidFill>
          <a:ln w="12700">
            <a:solidFill>
              <a:srgbClr val="000000"/>
            </a:solidFill>
            <a:prstDash val="solid"/>
          </a:ln>
        </p:spPr>
      </p:sp>
      <p:sp>
        <p:nvSpPr>
          <p:cNvPr id="30" name="Text 28"/>
          <p:cNvSpPr txBox="1"/>
          <p:nvPr/>
        </p:nvSpPr>
        <p:spPr>
          <a:xfrm>
            <a:off x="731520" y="4434840"/>
            <a:ext cx="10728655" cy="54864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Diagnostics loop (decides the next script):  </a:t>
            </a:r>
            <a:pPr indent="0" marL="0">
              <a:buNone/>
            </a:pPr>
            <a:r>
              <a:rPr lang="en-US" sz="1300" dirty="0">
                <a:solidFill>
                  <a:srgbClr val="000000"/>
                </a:solidFill>
                <a:latin typeface="Arial" pitchFamily="34" charset="0"/>
                <a:ea typeface="Arial" pitchFamily="34" charset="-122"/>
                <a:cs typeface="Arial" pitchFamily="34" charset="-120"/>
              </a:rPr>
              <a:t>manual audit in QGIS  |  false positive / false negative buckets  |  tree-size re-score  |  alignment (georeferencing) sweep</a:t>
            </a:r>
            <a:endParaRPr lang="en-US" sz="1300" dirty="0"/>
          </a:p>
        </p:txBody>
      </p:sp>
      <p:sp>
        <p:nvSpPr>
          <p:cNvPr id="31" name="Shape 29"/>
          <p:cNvSpPr/>
          <p:nvPr/>
        </p:nvSpPr>
        <p:spPr>
          <a:xfrm>
            <a:off x="9555480" y="3867912"/>
            <a:ext cx="0" cy="448056"/>
          </a:xfrm>
          <a:prstGeom prst="line">
            <a:avLst/>
          </a:prstGeom>
          <a:noFill/>
          <a:ln w="15875">
            <a:solidFill>
              <a:srgbClr val="000000"/>
            </a:solidFill>
            <a:prstDash val="solid"/>
            <a:tailEnd type="triangle"/>
          </a:ln>
        </p:spPr>
      </p:sp>
      <p:sp>
        <p:nvSpPr>
          <p:cNvPr id="32" name="Shape 30"/>
          <p:cNvSpPr/>
          <p:nvPr/>
        </p:nvSpPr>
        <p:spPr>
          <a:xfrm flipV="1">
            <a:off x="3291840" y="3867912"/>
            <a:ext cx="0" cy="448056"/>
          </a:xfrm>
          <a:prstGeom prst="line">
            <a:avLst/>
          </a:prstGeom>
          <a:noFill/>
          <a:ln w="15875">
            <a:solidFill>
              <a:srgbClr val="000000"/>
            </a:solidFill>
            <a:prstDash val="solid"/>
            <a:tailEnd type="triangle"/>
          </a:ln>
        </p:spPr>
      </p:sp>
      <p:sp>
        <p:nvSpPr>
          <p:cNvPr id="33" name="Text 31"/>
          <p:cNvSpPr txBox="1"/>
          <p:nvPr/>
        </p:nvSpPr>
        <p:spPr>
          <a:xfrm>
            <a:off x="548640" y="5440680"/>
            <a:ext cx="2651760" cy="82296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config.yaml</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every setting in one file</a:t>
            </a:r>
            <a:endParaRPr lang="en-US" sz="1250" dirty="0"/>
          </a:p>
        </p:txBody>
      </p:sp>
      <p:sp>
        <p:nvSpPr>
          <p:cNvPr id="34" name="Text 32"/>
          <p:cNvSpPr txBox="1"/>
          <p:nvPr/>
        </p:nvSpPr>
        <p:spPr>
          <a:xfrm>
            <a:off x="3383280" y="5440680"/>
            <a:ext cx="2651760" cy="82296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SOFLO_DATA_ROOT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~3.7 GB of imagery stays off GitHub</a:t>
            </a:r>
            <a:endParaRPr lang="en-US" sz="1250" dirty="0"/>
          </a:p>
        </p:txBody>
      </p:sp>
      <p:sp>
        <p:nvSpPr>
          <p:cNvPr id="35" name="Text 33"/>
          <p:cNvSpPr txBox="1"/>
          <p:nvPr/>
        </p:nvSpPr>
        <p:spPr>
          <a:xfrm>
            <a:off x="6217920" y="5440680"/>
            <a:ext cx="2651760" cy="82296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PyTorch on Apple GPU</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windowed reads, peak RAM under 6 GB</a:t>
            </a:r>
            <a:endParaRPr lang="en-US" sz="1250" dirty="0"/>
          </a:p>
        </p:txBody>
      </p:sp>
      <p:sp>
        <p:nvSpPr>
          <p:cNvPr id="36" name="Text 34"/>
          <p:cNvSpPr txBox="1"/>
          <p:nvPr/>
        </p:nvSpPr>
        <p:spPr>
          <a:xfrm>
            <a:off x="9052560" y="5440680"/>
            <a:ext cx="2651760" cy="82296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Git</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one script + one commit per experiment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Step 1: the old labels missed most of the trees</a:t>
            </a:r>
            <a:endParaRPr lang="en-US" sz="3000" dirty="0"/>
          </a:p>
        </p:txBody>
      </p:sp>
      <p:graphicFrame>
        <p:nvGraphicFramePr>
          <p:cNvPr id="3" name="Chart 0" descr=""/>
          <p:cNvGraphicFramePr/>
          <p:nvPr/>
        </p:nvGraphicFramePr>
        <p:xfrm>
          <a:off x="548640" y="123444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858000" y="1325880"/>
            <a:ext cx="4754880" cy="807720"/>
          </a:xfrm>
          <a:prstGeom prst="rect">
            <a:avLst/>
          </a:prstGeom>
          <a:noFill/>
          <a:ln/>
        </p:spPr>
        <p:txBody>
          <a:bodyPr wrap="square" lIns="0" tIns="0" rIns="0" bIns="0" rtlCol="0" anchor="t"/>
          <a:lstStyle/>
          <a:p>
            <a:pPr indent="0" marL="0">
              <a:buNone/>
            </a:pPr>
            <a:r>
              <a:rPr lang="en-US" sz="4400" b="1" dirty="0">
                <a:solidFill>
                  <a:srgbClr val="000000"/>
                </a:solidFill>
                <a:latin typeface="Arial" pitchFamily="34" charset="0"/>
                <a:ea typeface="Arial" pitchFamily="34" charset="-122"/>
                <a:cs typeface="Arial" pitchFamily="34" charset="-120"/>
              </a:rPr>
              <a:t>~6 in 10</a:t>
            </a:r>
            <a:endParaRPr lang="en-US" sz="4400" dirty="0"/>
          </a:p>
        </p:txBody>
      </p:sp>
      <p:sp>
        <p:nvSpPr>
          <p:cNvPr id="5" name="Text 2"/>
          <p:cNvSpPr txBox="1"/>
          <p:nvPr/>
        </p:nvSpPr>
        <p:spPr>
          <a:xfrm>
            <a:off x="6858000" y="2161032"/>
            <a:ext cx="4754880" cy="82296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confirmed trees had no outline from the prior model</a:t>
            </a:r>
            <a:endParaRPr lang="en-US" sz="1600" dirty="0"/>
          </a:p>
        </p:txBody>
      </p:sp>
      <p:sp>
        <p:nvSpPr>
          <p:cNvPr id="6" name="Text 3"/>
          <p:cNvSpPr txBox="1"/>
          <p:nvPr/>
        </p:nvSpPr>
        <p:spPr>
          <a:xfrm>
            <a:off x="6858000" y="2743200"/>
            <a:ext cx="4754880" cy="68580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640</a:t>
            </a:r>
            <a:endParaRPr lang="en-US" sz="3600" dirty="0"/>
          </a:p>
        </p:txBody>
      </p:sp>
      <p:sp>
        <p:nvSpPr>
          <p:cNvPr id="7" name="Text 4"/>
          <p:cNvSpPr txBox="1"/>
          <p:nvPr/>
        </p:nvSpPr>
        <p:spPr>
          <a:xfrm>
            <a:off x="6858000" y="3456432"/>
            <a:ext cx="4754880" cy="82296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outlines merged two or more trees into one crown</a:t>
            </a:r>
            <a:endParaRPr lang="en-US" sz="1600" dirty="0"/>
          </a:p>
        </p:txBody>
      </p:sp>
      <p:sp>
        <p:nvSpPr>
          <p:cNvPr id="8" name="Text 5"/>
          <p:cNvSpPr txBox="1"/>
          <p:nvPr/>
        </p:nvSpPr>
        <p:spPr>
          <a:xfrm>
            <a:off x="6858000" y="4069080"/>
            <a:ext cx="4754880" cy="1737360"/>
          </a:xfrm>
          <a:prstGeom prst="rect">
            <a:avLst/>
          </a:prstGeom>
          <a:noFill/>
          <a:ln/>
        </p:spPr>
        <p:txBody>
          <a:bodyPr wrap="square" lIns="0" tIns="0" rIns="0" bIns="0" rtlCol="0" anchor="t"/>
          <a:lstStyle/>
          <a:p>
            <a:pPr indent="0" marL="0">
              <a:spcAft>
                <a:spcPts val="600"/>
              </a:spcAft>
              <a:buNone/>
            </a:pPr>
            <a:r>
              <a:rPr lang="en-US" sz="1500" b="1" dirty="0">
                <a:solidFill>
                  <a:srgbClr val="000000"/>
                </a:solidFill>
                <a:latin typeface="Arial" pitchFamily="34" charset="0"/>
                <a:ea typeface="Arial" pitchFamily="34" charset="-122"/>
                <a:cs typeface="Arial" pitchFamily="34" charset="-120"/>
              </a:rPr>
              <a:t>Design choice: trust the points, not the outlines</a:t>
            </a:r>
            <a:endParaRPr lang="en-US" sz="1500" dirty="0"/>
          </a:p>
          <a:p>
            <a:pPr indent="0" marL="0">
              <a:spcAft>
                <a:spcPts val="600"/>
              </a:spcAft>
              <a:buNone/>
            </a:pPr>
            <a:r>
              <a:rPr lang="en-US" sz="1500" dirty="0">
                <a:solidFill>
                  <a:srgbClr val="000000"/>
                </a:solidFill>
                <a:latin typeface="Arial" pitchFamily="34" charset="0"/>
                <a:ea typeface="Arial" pitchFamily="34" charset="-122"/>
                <a:cs typeface="Arial" pitchFamily="34" charset="-120"/>
              </a:rPr>
              <a:t>Every confirmed tree gets exactly one box: its real crown where a clean outline exists, otherwise a ~7 m box sized from the data. Each box is tagged with where it came from.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Step 2: a first model, and a score that looked bad</a:t>
            </a:r>
            <a:endParaRPr lang="en-US" sz="3000" dirty="0"/>
          </a:p>
        </p:txBody>
      </p:sp>
      <p:pic>
        <p:nvPicPr>
          <p:cNvPr id="3" name="Image 0" descr="/home/claude/deck/img/aoi_split.jpg">    </p:cNvPr>
          <p:cNvPicPr>
            <a:picLocks noChangeAspect="1"/>
          </p:cNvPicPr>
          <p:nvPr/>
        </p:nvPicPr>
        <p:blipFill>
          <a:blip r:embed="rId1"/>
          <a:stretch>
            <a:fillRect/>
          </a:stretch>
        </p:blipFill>
        <p:spPr>
          <a:xfrm>
            <a:off x="731520" y="1188720"/>
            <a:ext cx="3520440" cy="4572000"/>
          </a:xfrm>
          <a:prstGeom prst="rect">
            <a:avLst/>
          </a:prstGeom>
        </p:spPr>
      </p:pic>
      <p:sp>
        <p:nvSpPr>
          <p:cNvPr id="4" name="Text 1"/>
          <p:cNvSpPr txBox="1"/>
          <p:nvPr/>
        </p:nvSpPr>
        <p:spPr>
          <a:xfrm>
            <a:off x="548640" y="5852160"/>
            <a:ext cx="3931920" cy="54864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Blue = train region (1,951 trees), red = test region (2,211 trees)</a:t>
            </a:r>
            <a:endParaRPr lang="en-US" sz="1100" dirty="0"/>
          </a:p>
        </p:txBody>
      </p:sp>
      <p:sp>
        <p:nvSpPr>
          <p:cNvPr id="5" name="Text 2"/>
          <p:cNvSpPr txBox="1"/>
          <p:nvPr/>
        </p:nvSpPr>
        <p:spPr>
          <a:xfrm>
            <a:off x="4846320" y="1234440"/>
            <a:ext cx="6766560" cy="807720"/>
          </a:xfrm>
          <a:prstGeom prst="rect">
            <a:avLst/>
          </a:prstGeom>
          <a:noFill/>
          <a:ln/>
        </p:spPr>
        <p:txBody>
          <a:bodyPr wrap="square" lIns="0" tIns="0" rIns="0" bIns="0" rtlCol="0" anchor="t"/>
          <a:lstStyle/>
          <a:p>
            <a:pPr indent="0" marL="0">
              <a:buNone/>
            </a:pPr>
            <a:r>
              <a:rPr lang="en-US" sz="4400" b="1" dirty="0">
                <a:solidFill>
                  <a:srgbClr val="000000"/>
                </a:solidFill>
                <a:latin typeface="Arial" pitchFamily="34" charset="0"/>
                <a:ea typeface="Arial" pitchFamily="34" charset="-122"/>
                <a:cs typeface="Arial" pitchFamily="34" charset="-120"/>
              </a:rPr>
              <a:t>F1 = 0.39</a:t>
            </a:r>
            <a:endParaRPr lang="en-US" sz="4400" dirty="0"/>
          </a:p>
        </p:txBody>
      </p:sp>
      <p:sp>
        <p:nvSpPr>
          <p:cNvPr id="6" name="Text 3"/>
          <p:cNvSpPr txBox="1"/>
          <p:nvPr/>
        </p:nvSpPr>
        <p:spPr>
          <a:xfrm>
            <a:off x="4846320" y="2069592"/>
            <a:ext cx="6766560" cy="82296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precision 0.40, recall 0.39, scored by box overlap (IoU 0.4)</a:t>
            </a:r>
            <a:endParaRPr lang="en-US" sz="1600" dirty="0"/>
          </a:p>
        </p:txBody>
      </p:sp>
      <p:sp>
        <p:nvSpPr>
          <p:cNvPr id="7" name="Text 4"/>
          <p:cNvSpPr txBox="1"/>
          <p:nvPr/>
        </p:nvSpPr>
        <p:spPr>
          <a:xfrm>
            <a:off x="4846320" y="2606040"/>
            <a:ext cx="6766560" cy="35661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Model: </a:t>
            </a:r>
            <a:pPr indent="0" marL="0">
              <a:spcAft>
                <a:spcPts val="800"/>
              </a:spcAft>
              <a:buNone/>
            </a:pPr>
            <a:r>
              <a:rPr lang="en-US" sz="1600" dirty="0">
                <a:solidFill>
                  <a:srgbClr val="000000"/>
                </a:solidFill>
                <a:latin typeface="Arial" pitchFamily="34" charset="0"/>
                <a:ea typeface="Arial" pitchFamily="34" charset="-122"/>
                <a:cs typeface="Arial" pitchFamily="34" charset="-120"/>
              </a:rPr>
              <a:t>DeepForest (RetinaNet pretrained on forest canopy), fine-tuned on campus tiles</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Design choice: </a:t>
            </a:r>
            <a:pPr indent="0" marL="0">
              <a:spcAft>
                <a:spcPts val="800"/>
              </a:spcAft>
              <a:buNone/>
            </a:pPr>
            <a:r>
              <a:rPr lang="en-US" sz="1600" dirty="0">
                <a:solidFill>
                  <a:srgbClr val="000000"/>
                </a:solidFill>
                <a:latin typeface="Arial" pitchFamily="34" charset="0"/>
                <a:ea typeface="Arial" pitchFamily="34" charset="-122"/>
                <a:cs typeface="Arial" pitchFamily="34" charset="-120"/>
              </a:rPr>
              <a:t>split by geography, not random trees, so the test area is ground the model never saw</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Training: </a:t>
            </a:r>
            <a:pPr indent="0" marL="0">
              <a:spcAft>
                <a:spcPts val="800"/>
              </a:spcAft>
              <a:buNone/>
            </a:pPr>
            <a:r>
              <a:rPr lang="en-US" sz="1600" dirty="0">
                <a:solidFill>
                  <a:srgbClr val="000000"/>
                </a:solidFill>
                <a:latin typeface="Arial" pitchFamily="34" charset="0"/>
                <a:ea typeface="Arial" pitchFamily="34" charset="-122"/>
                <a:cs typeface="Arial" pitchFamily="34" charset="-120"/>
              </a:rPr>
              <a:t>early stopped at epoch 13 (best epoch 5), about 28 minutes on the laptop</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Swap test: </a:t>
            </a:r>
            <a:pPr indent="0" marL="0">
              <a:spcAft>
                <a:spcPts val="800"/>
              </a:spcAft>
              <a:buNone/>
            </a:pPr>
            <a:r>
              <a:rPr lang="en-US" sz="1600" dirty="0">
                <a:solidFill>
                  <a:srgbClr val="000000"/>
                </a:solidFill>
                <a:latin typeface="Arial" pitchFamily="34" charset="0"/>
                <a:ea typeface="Arial" pitchFamily="34" charset="-122"/>
                <a:cs typeface="Arial" pitchFamily="34" charset="-120"/>
              </a:rPr>
              <a:t>trading the train and test regions moved F1 from 0.39 to 0.32, so the score depends on where you test</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Next move: </a:t>
            </a:r>
            <a:pPr indent="0" marL="0">
              <a:spcAft>
                <a:spcPts val="800"/>
              </a:spcAft>
              <a:buNone/>
            </a:pPr>
            <a:r>
              <a:rPr lang="en-US" sz="1600" dirty="0">
                <a:solidFill>
                  <a:srgbClr val="000000"/>
                </a:solidFill>
                <a:latin typeface="Arial" pitchFamily="34" charset="0"/>
                <a:ea typeface="Arial" pitchFamily="34" charset="-122"/>
                <a:cs typeface="Arial" pitchFamily="34" charset="-120"/>
              </a:rPr>
              <a:t>not a bigger model, but checking whether the score itself was right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Step 3: was the model wrong, or the answer key?</a:t>
            </a:r>
            <a:endParaRPr lang="en-US" sz="3000" dirty="0"/>
          </a:p>
        </p:txBody>
      </p:sp>
      <p:pic>
        <p:nvPicPr>
          <p:cNvPr id="3" name="Image 0" descr="/home/claude/deck/img/audit_verdicts.jpg">    </p:cNvPr>
          <p:cNvPicPr>
            <a:picLocks noChangeAspect="1"/>
          </p:cNvPicPr>
          <p:nvPr/>
        </p:nvPicPr>
        <p:blipFill>
          <a:blip r:embed="rId1"/>
          <a:stretch>
            <a:fillRect/>
          </a:stretch>
        </p:blipFill>
        <p:spPr>
          <a:xfrm>
            <a:off x="685800" y="1143000"/>
            <a:ext cx="10789920" cy="3346704"/>
          </a:xfrm>
          <a:prstGeom prst="rect">
            <a:avLst/>
          </a:prstGeom>
        </p:spPr>
      </p:pic>
      <p:sp>
        <p:nvSpPr>
          <p:cNvPr id="4" name="Text 1"/>
          <p:cNvSpPr txBox="1"/>
          <p:nvPr/>
        </p:nvSpPr>
        <p:spPr>
          <a:xfrm>
            <a:off x="685800" y="4572000"/>
            <a:ext cx="10789920" cy="3200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4 of the 100 random "false positives" I checked one by one in QGIS. Red box = a tree the model found that the inventory has no record of.</a:t>
            </a:r>
            <a:endParaRPr lang="en-US" sz="1200" dirty="0"/>
          </a:p>
        </p:txBody>
      </p:sp>
      <p:sp>
        <p:nvSpPr>
          <p:cNvPr id="5" name="Text 2"/>
          <p:cNvSpPr txBox="1"/>
          <p:nvPr/>
        </p:nvSpPr>
        <p:spPr>
          <a:xfrm>
            <a:off x="548640" y="5029200"/>
            <a:ext cx="3566160" cy="533400"/>
          </a:xfrm>
          <a:prstGeom prst="rect">
            <a:avLst/>
          </a:prstGeom>
          <a:noFill/>
          <a:ln/>
        </p:spPr>
        <p:txBody>
          <a:bodyPr wrap="square" lIns="0" tIns="0" rIns="0" bIns="0" rtlCol="0" anchor="t"/>
          <a:lstStyle/>
          <a:p>
            <a:pPr indent="0" marL="0">
              <a:buNone/>
            </a:pPr>
            <a:r>
              <a:rPr lang="en-US" sz="2600" b="1" dirty="0">
                <a:solidFill>
                  <a:srgbClr val="000000"/>
                </a:solidFill>
                <a:latin typeface="Arial" pitchFamily="34" charset="0"/>
                <a:ea typeface="Arial" pitchFamily="34" charset="-122"/>
                <a:cs typeface="Arial" pitchFamily="34" charset="-120"/>
              </a:rPr>
              <a:t>94 of 100</a:t>
            </a:r>
            <a:endParaRPr lang="en-US" sz="2600" dirty="0"/>
          </a:p>
        </p:txBody>
      </p:sp>
      <p:sp>
        <p:nvSpPr>
          <p:cNvPr id="6" name="Text 3"/>
          <p:cNvSpPr txBox="1"/>
          <p:nvPr/>
        </p:nvSpPr>
        <p:spPr>
          <a:xfrm>
            <a:off x="548640" y="5590032"/>
            <a:ext cx="356616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were real trees the inventory never recorded (3 were real errors, 3 unsure)</a:t>
            </a:r>
            <a:endParaRPr lang="en-US" sz="1300" dirty="0"/>
          </a:p>
        </p:txBody>
      </p:sp>
      <p:sp>
        <p:nvSpPr>
          <p:cNvPr id="7" name="Text 4"/>
          <p:cNvSpPr txBox="1"/>
          <p:nvPr/>
        </p:nvSpPr>
        <p:spPr>
          <a:xfrm>
            <a:off x="4315968" y="5029200"/>
            <a:ext cx="3566160" cy="533400"/>
          </a:xfrm>
          <a:prstGeom prst="rect">
            <a:avLst/>
          </a:prstGeom>
          <a:noFill/>
          <a:ln/>
        </p:spPr>
        <p:txBody>
          <a:bodyPr wrap="square" lIns="0" tIns="0" rIns="0" bIns="0" rtlCol="0" anchor="t"/>
          <a:lstStyle/>
          <a:p>
            <a:pPr indent="0" marL="0">
              <a:buNone/>
            </a:pPr>
            <a:r>
              <a:rPr lang="en-US" sz="2600" b="1" dirty="0">
                <a:solidFill>
                  <a:srgbClr val="000000"/>
                </a:solidFill>
                <a:latin typeface="Arial" pitchFamily="34" charset="0"/>
                <a:ea typeface="Arial" pitchFamily="34" charset="-122"/>
                <a:cs typeface="Arial" pitchFamily="34" charset="-120"/>
              </a:rPr>
              <a:t>5.4%</a:t>
            </a:r>
            <a:endParaRPr lang="en-US" sz="2600" dirty="0"/>
          </a:p>
        </p:txBody>
      </p:sp>
      <p:sp>
        <p:nvSpPr>
          <p:cNvPr id="8" name="Text 5"/>
          <p:cNvSpPr txBox="1"/>
          <p:nvPr/>
        </p:nvSpPr>
        <p:spPr>
          <a:xfrm>
            <a:off x="4315968" y="5590032"/>
            <a:ext cx="356616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of misses were truly undetected; the rest had a box on or near the tree, just too loose</a:t>
            </a:r>
            <a:endParaRPr lang="en-US" sz="1300" dirty="0"/>
          </a:p>
        </p:txBody>
      </p:sp>
      <p:sp>
        <p:nvSpPr>
          <p:cNvPr id="9" name="Text 6"/>
          <p:cNvSpPr txBox="1"/>
          <p:nvPr/>
        </p:nvSpPr>
        <p:spPr>
          <a:xfrm>
            <a:off x="8083296" y="5029200"/>
            <a:ext cx="3566160" cy="533400"/>
          </a:xfrm>
          <a:prstGeom prst="rect">
            <a:avLst/>
          </a:prstGeom>
          <a:noFill/>
          <a:ln/>
        </p:spPr>
        <p:txBody>
          <a:bodyPr wrap="square" lIns="0" tIns="0" rIns="0" bIns="0" rtlCol="0" anchor="t"/>
          <a:lstStyle/>
          <a:p>
            <a:pPr indent="0" marL="0">
              <a:buNone/>
            </a:pPr>
            <a:r>
              <a:rPr lang="en-US" sz="2600" b="1" dirty="0">
                <a:solidFill>
                  <a:srgbClr val="000000"/>
                </a:solidFill>
                <a:latin typeface="Arial" pitchFamily="34" charset="0"/>
                <a:ea typeface="Arial" pitchFamily="34" charset="-122"/>
                <a:cs typeface="Arial" pitchFamily="34" charset="-120"/>
              </a:rPr>
              <a:t>~0.61, not 0.96</a:t>
            </a:r>
            <a:endParaRPr lang="en-US" sz="2600" dirty="0"/>
          </a:p>
        </p:txBody>
      </p:sp>
      <p:sp>
        <p:nvSpPr>
          <p:cNvPr id="10" name="Text 7"/>
          <p:cNvSpPr txBox="1"/>
          <p:nvPr/>
        </p:nvSpPr>
        <p:spPr>
          <a:xfrm>
            <a:off x="8083296" y="5590032"/>
            <a:ext cx="356616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only 43 of the 94 were new trees (51 were loose boxes), so extrapolated precision is ~0.61</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Step 4: change the ruler, and always compare to random</a:t>
            </a:r>
            <a:endParaRPr lang="en-US" sz="3000" dirty="0"/>
          </a:p>
        </p:txBody>
      </p:sp>
      <p:sp>
        <p:nvSpPr>
          <p:cNvPr id="3" name="Text 1"/>
          <p:cNvSpPr txBox="1"/>
          <p:nvPr/>
        </p:nvSpPr>
        <p:spPr>
          <a:xfrm>
            <a:off x="548640" y="1280160"/>
            <a:ext cx="5212080" cy="40233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Problem: </a:t>
            </a:r>
            <a:pPr indent="0" marL="0">
              <a:spcAft>
                <a:spcPts val="800"/>
              </a:spcAft>
              <a:buNone/>
            </a:pPr>
            <a:r>
              <a:rPr lang="en-US" sz="1600" dirty="0">
                <a:solidFill>
                  <a:srgbClr val="000000"/>
                </a:solidFill>
                <a:latin typeface="Arial" pitchFamily="34" charset="0"/>
                <a:ea typeface="Arial" pitchFamily="34" charset="-122"/>
                <a:cs typeface="Arial" pitchFamily="34" charset="-120"/>
              </a:rPr>
              <a:t>box overlap punished loose boxes and trees missing from the inventory</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New ruler: </a:t>
            </a:r>
            <a:pPr indent="0" marL="0">
              <a:spcAft>
                <a:spcPts val="800"/>
              </a:spcAft>
              <a:buNone/>
            </a:pPr>
            <a:r>
              <a:rPr lang="en-US" sz="1600" dirty="0">
                <a:solidFill>
                  <a:srgbClr val="000000"/>
                </a:solidFill>
                <a:latin typeface="Arial" pitchFamily="34" charset="0"/>
                <a:ea typeface="Arial" pitchFamily="34" charset="-122"/>
                <a:cs typeface="Arial" pitchFamily="34" charset="-120"/>
              </a:rPr>
              <a:t>turn each prediction into a point and match it to the nearest real tree within 1, 2, or 5 m, one match per tree</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Random floor: </a:t>
            </a:r>
            <a:pPr indent="0" marL="0">
              <a:spcAft>
                <a:spcPts val="800"/>
              </a:spcAft>
              <a:buNone/>
            </a:pPr>
            <a:r>
              <a:rPr lang="en-US" sz="1600" dirty="0">
                <a:solidFill>
                  <a:srgbClr val="000000"/>
                </a:solidFill>
                <a:latin typeface="Arial" pitchFamily="34" charset="0"/>
                <a:ea typeface="Arial" pitchFamily="34" charset="-122"/>
                <a:cs typeface="Arial" pitchFamily="34" charset="-120"/>
              </a:rPr>
              <a:t>scatter the same number of random points and score them the same way. A model only counts if it beats that.</a:t>
            </a:r>
            <a:endParaRPr lang="en-US" sz="1600" dirty="0"/>
          </a:p>
          <a:p>
            <a:pPr marL="342900" indent="-3429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Fair region: </a:t>
            </a:r>
            <a:pPr indent="0" marL="0">
              <a:spcAft>
                <a:spcPts val="800"/>
              </a:spcAft>
              <a:buNone/>
            </a:pPr>
            <a:r>
              <a:rPr lang="en-US" sz="1600" dirty="0">
                <a:solidFill>
                  <a:srgbClr val="000000"/>
                </a:solidFill>
                <a:latin typeface="Arial" pitchFamily="34" charset="0"/>
                <a:ea typeface="Arial" pitchFamily="34" charset="-122"/>
                <a:cs typeface="Arial" pitchFamily="34" charset="-120"/>
              </a:rPr>
              <a:t>score inside a 250 m x 250 m labeled area so unlabeled ground doesn't count against the model</a:t>
            </a:r>
            <a:endParaRPr lang="en-US" sz="1600" dirty="0"/>
          </a:p>
        </p:txBody>
      </p:sp>
      <p:graphicFrame>
        <p:nvGraphicFramePr>
          <p:cNvPr id="4" name="Chart 0" descr=""/>
          <p:cNvGraphicFramePr/>
          <p:nvPr/>
        </p:nvGraphicFramePr>
        <p:xfrm>
          <a:off x="6126480" y="118872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Campus at 5 m: F1 0.57, and the model finds 32 points more of the trees than random does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Campus outcomes: three detectors, one fair comparison</a:t>
            </a:r>
            <a:endParaRPr lang="en-US" sz="3000" dirty="0"/>
          </a:p>
        </p:txBody>
      </p:sp>
      <p:graphicFrame>
        <p:nvGraphicFramePr>
          <p:cNvPr id="3" name="Chart 0" descr=""/>
          <p:cNvGraphicFramePr/>
          <p:nvPr/>
        </p:nvGraphicFramePr>
        <p:xfrm>
          <a:off x="548640" y="118872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486400"/>
            <a:ext cx="5852160" cy="64008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TreeNet = mine, from scratch  |  DeepForest = mine, fine-tuned  |  YOLO26s = Ahsan</a:t>
            </a:r>
            <a:endParaRPr lang="en-US" sz="1100" dirty="0"/>
          </a:p>
          <a:p>
            <a:pPr indent="0" marL="0">
              <a:buNone/>
            </a:pPr>
            <a:r>
              <a:rPr lang="en-US" sz="1100" dirty="0">
                <a:solidFill>
                  <a:srgbClr val="444444"/>
                </a:solidFill>
                <a:latin typeface="Arial" pitchFamily="34" charset="0"/>
                <a:ea typeface="Arial" pitchFamily="34" charset="-122"/>
                <a:cs typeface="Arial" pitchFamily="34" charset="-120"/>
              </a:rPr>
              <a:t>Precision / recall:  TreeNet 0.37 / 0.49  |  DeepForest 0.67 / 0.50  |  YOLO26s 0.65 / 0.67</a:t>
            </a:r>
            <a:endParaRPr lang="en-US" sz="1100" dirty="0"/>
          </a:p>
        </p:txBody>
      </p:sp>
      <p:sp>
        <p:nvSpPr>
          <p:cNvPr id="5" name="Text 2"/>
          <p:cNvSpPr txBox="1"/>
          <p:nvPr/>
        </p:nvSpPr>
        <p:spPr>
          <a:xfrm>
            <a:off x="6675120" y="1280160"/>
            <a:ext cx="4937760" cy="36576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Detection</a:t>
            </a:r>
            <a:endParaRPr lang="en-US" sz="1800" dirty="0"/>
          </a:p>
        </p:txBody>
      </p:sp>
      <p:sp>
        <p:nvSpPr>
          <p:cNvPr id="6" name="Text 3"/>
          <p:cNvSpPr txBox="1"/>
          <p:nvPr/>
        </p:nvSpPr>
        <p:spPr>
          <a:xfrm>
            <a:off x="6675120" y="1691640"/>
            <a:ext cx="493776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My from-scratch model finds almost as many trees as DeepForest (recall 0.49 vs 0.50); the gap is false alarms</a:t>
            </a:r>
            <a:endParaRPr lang="en-US" sz="1500" dirty="0"/>
          </a:p>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Read as an experiment: pretraining is worth about 0.15 to 0.24 F1 on this site</a:t>
            </a:r>
            <a:endParaRPr lang="en-US" sz="1500" dirty="0"/>
          </a:p>
        </p:txBody>
      </p:sp>
      <p:sp>
        <p:nvSpPr>
          <p:cNvPr id="7" name="Text 4"/>
          <p:cNvSpPr txBox="1"/>
          <p:nvPr/>
        </p:nvSpPr>
        <p:spPr>
          <a:xfrm>
            <a:off x="6675120" y="3520440"/>
            <a:ext cx="4937760" cy="36576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Species</a:t>
            </a:r>
            <a:endParaRPr lang="en-US" sz="1800" dirty="0"/>
          </a:p>
        </p:txBody>
      </p:sp>
      <p:sp>
        <p:nvSpPr>
          <p:cNvPr id="8" name="Text 5"/>
          <p:cNvSpPr txBox="1"/>
          <p:nvPr/>
        </p:nvSpPr>
        <p:spPr>
          <a:xfrm>
            <a:off x="6675120" y="3931920"/>
            <a:ext cx="493776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Palm vs. not-palm on labeled tree crops: 89.9% accuracy, vs. 54.6% by always guessing the majority (an upper bound)</a:t>
            </a:r>
            <a:endParaRPr lang="en-US" sz="1500" dirty="0"/>
          </a:p>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Pine and cypress couldn't be trained: 55 pine and 22 cypress vs. 3,461 other trees (157 to 1)</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Big Cypress: same playbook, hit a wall</a:t>
            </a:r>
            <a:endParaRPr lang="en-US" sz="3000" dirty="0"/>
          </a:p>
        </p:txBody>
      </p:sp>
      <p:pic>
        <p:nvPicPr>
          <p:cNvPr id="3" name="Image 0" descr="/home/claude/deck/img/bcnp_three_panel.jpg">    </p:cNvPr>
          <p:cNvPicPr>
            <a:picLocks noChangeAspect="1"/>
          </p:cNvPicPr>
          <p:nvPr/>
        </p:nvPicPr>
        <p:blipFill>
          <a:blip r:embed="rId1"/>
          <a:stretch>
            <a:fillRect/>
          </a:stretch>
        </p:blipFill>
        <p:spPr>
          <a:xfrm>
            <a:off x="685800" y="1097280"/>
            <a:ext cx="10789920" cy="3904488"/>
          </a:xfrm>
          <a:prstGeom prst="rect">
            <a:avLst/>
          </a:prstGeom>
        </p:spPr>
      </p:pic>
      <p:sp>
        <p:nvSpPr>
          <p:cNvPr id="4" name="Text 1"/>
          <p:cNvSpPr txBox="1"/>
          <p:nvPr/>
        </p:nvSpPr>
        <p:spPr>
          <a:xfrm>
            <a:off x="685800" y="5074920"/>
            <a:ext cx="10789920" cy="29260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Held-out plot, one 30 m window three ways. Green + = surveyed tree, red circle = model detection.</a:t>
            </a:r>
            <a:endParaRPr lang="en-US" sz="1200" dirty="0"/>
          </a:p>
        </p:txBody>
      </p:sp>
      <p:sp>
        <p:nvSpPr>
          <p:cNvPr id="5" name="Text 2"/>
          <p:cNvSpPr txBox="1"/>
          <p:nvPr/>
        </p:nvSpPr>
        <p:spPr>
          <a:xfrm>
            <a:off x="548640" y="5504688"/>
            <a:ext cx="7772400" cy="1143000"/>
          </a:xfrm>
          <a:prstGeom prst="rect">
            <a:avLst/>
          </a:prstGeom>
          <a:noFill/>
          <a:ln/>
        </p:spPr>
        <p:txBody>
          <a:bodyPr wrap="square" lIns="0" tIns="0" rIns="0" bIns="0" rtlCol="0" anchor="t"/>
          <a:lstStyle/>
          <a:p>
            <a:pPr marL="342900" indent="-342900">
              <a:spcAft>
                <a:spcPts val="800"/>
              </a:spcAft>
              <a:buSzPct val="100000"/>
              <a:buChar char="•"/>
            </a:pPr>
            <a:r>
              <a:rPr lang="en-US" sz="1350" b="1" dirty="0">
                <a:solidFill>
                  <a:srgbClr val="000000"/>
                </a:solidFill>
                <a:latin typeface="Arial" pitchFamily="34" charset="0"/>
                <a:ea typeface="Arial" pitchFamily="34" charset="-122"/>
                <a:cs typeface="Arial" pitchFamily="34" charset="-120"/>
              </a:rPr>
              <a:t>Whole plot: </a:t>
            </a:r>
            <a:pPr indent="0" marL="0">
              <a:spcAft>
                <a:spcPts val="800"/>
              </a:spcAft>
              <a:buNone/>
            </a:pPr>
            <a:r>
              <a:rPr lang="en-US" sz="1350" dirty="0">
                <a:solidFill>
                  <a:srgbClr val="000000"/>
                </a:solidFill>
                <a:latin typeface="Arial" pitchFamily="34" charset="0"/>
                <a:ea typeface="Arial" pitchFamily="34" charset="-122"/>
                <a:cs typeface="Arial" pitchFamily="34" charset="-120"/>
              </a:rPr>
              <a:t>2,576 surveyed trees, 4,212 detections. Every detector lands at F1 ~0.11 at a 1 m radius (random scatter gets ~0.10); DeepForest boxes found 3.9% of trees.</a:t>
            </a:r>
            <a:endParaRPr lang="en-US" sz="1350" dirty="0"/>
          </a:p>
          <a:p>
            <a:pPr marL="342900" indent="-342900">
              <a:spcAft>
                <a:spcPts val="800"/>
              </a:spcAft>
              <a:buSzPct val="100000"/>
              <a:buChar char="•"/>
            </a:pPr>
            <a:r>
              <a:rPr lang="en-US" sz="1350" b="1" dirty="0">
                <a:solidFill>
                  <a:srgbClr val="000000"/>
                </a:solidFill>
                <a:latin typeface="Arial" pitchFamily="34" charset="0"/>
                <a:ea typeface="Arial" pitchFamily="34" charset="-122"/>
                <a:cs typeface="Arial" pitchFamily="34" charset="-120"/>
              </a:rPr>
              <a:t>Species too: </a:t>
            </a:r>
            <a:pPr indent="0" marL="0">
              <a:spcAft>
                <a:spcPts val="800"/>
              </a:spcAft>
              <a:buNone/>
            </a:pPr>
            <a:r>
              <a:rPr lang="en-US" sz="1350" dirty="0">
                <a:solidFill>
                  <a:srgbClr val="000000"/>
                </a:solidFill>
                <a:latin typeface="Arial" pitchFamily="34" charset="0"/>
                <a:ea typeface="Arial" pitchFamily="34" charset="-122"/>
                <a:cs typeface="Arial" pitchFamily="34" charset="-120"/>
              </a:rPr>
              <a:t>pine / cypress / palm reached 56.9%, worse than always guessing pine (72.1%)</a:t>
            </a:r>
            <a:endParaRPr lang="en-US" sz="1350" dirty="0"/>
          </a:p>
        </p:txBody>
      </p:sp>
      <p:sp>
        <p:nvSpPr>
          <p:cNvPr id="6" name="Text 3"/>
          <p:cNvSpPr txBox="1"/>
          <p:nvPr/>
        </p:nvSpPr>
        <p:spPr>
          <a:xfrm>
            <a:off x="8595360" y="5504688"/>
            <a:ext cx="3108960" cy="1143000"/>
          </a:xfrm>
          <a:prstGeom prst="rect">
            <a:avLst/>
          </a:prstGeom>
          <a:noFill/>
          <a:ln/>
        </p:spPr>
        <p:txBody>
          <a:bodyPr wrap="square" lIns="0" tIns="0" rIns="0" bIns="0" rtlCol="0" anchor="t"/>
          <a:lstStyle/>
          <a:p>
            <a:pPr indent="0" marL="0">
              <a:buNone/>
            </a:pPr>
            <a:r>
              <a:rPr lang="en-US" sz="1450" b="1" dirty="0">
                <a:solidFill>
                  <a:srgbClr val="000000"/>
                </a:solidFill>
                <a:latin typeface="Arial" pitchFamily="34" charset="0"/>
                <a:ea typeface="Arial" pitchFamily="34" charset="-122"/>
                <a:cs typeface="Arial" pitchFamily="34" charset="-120"/>
              </a:rPr>
              <a:t>Beating random by recall:</a:t>
            </a:r>
            <a:endParaRPr lang="en-US" sz="1450" dirty="0"/>
          </a:p>
          <a:p>
            <a:pPr indent="0" marL="0">
              <a:buNone/>
            </a:pPr>
            <a:r>
              <a:rPr lang="en-US" sz="1450" b="1" dirty="0">
                <a:solidFill>
                  <a:srgbClr val="000000"/>
                </a:solidFill>
                <a:latin typeface="Arial" pitchFamily="34" charset="0"/>
                <a:ea typeface="Arial" pitchFamily="34" charset="-122"/>
                <a:cs typeface="Arial" pitchFamily="34" charset="-120"/>
              </a:rPr>
              <a:t>campus +32 points (at 5 m)</a:t>
            </a:r>
            <a:endParaRPr lang="en-US" sz="1450" dirty="0"/>
          </a:p>
          <a:p>
            <a:pPr indent="0" marL="0">
              <a:buNone/>
            </a:pPr>
            <a:r>
              <a:rPr lang="en-US" sz="1450" b="1" dirty="0">
                <a:solidFill>
                  <a:srgbClr val="000000"/>
                </a:solidFill>
                <a:latin typeface="Arial" pitchFamily="34" charset="0"/>
                <a:ea typeface="Arial" pitchFamily="34" charset="-122"/>
                <a:cs typeface="Arial" pitchFamily="34" charset="-120"/>
              </a:rPr>
              <a:t>Big Cypress +2 points (at 1 m)</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Ruling out the easy excuses</a:t>
            </a:r>
            <a:endParaRPr lang="en-US" sz="3000" dirty="0"/>
          </a:p>
        </p:txBody>
      </p:sp>
      <p:sp>
        <p:nvSpPr>
          <p:cNvPr id="3" name="Shape 1"/>
          <p:cNvSpPr/>
          <p:nvPr/>
        </p:nvSpPr>
        <p:spPr>
          <a:xfrm>
            <a:off x="548640" y="1234440"/>
            <a:ext cx="2286000" cy="1874520"/>
          </a:xfrm>
          <a:prstGeom prst="rect">
            <a:avLst/>
          </a:prstGeom>
          <a:solidFill>
            <a:srgbClr val="FFFFFF"/>
          </a:solidFill>
          <a:ln w="12700">
            <a:solidFill>
              <a:srgbClr val="000000"/>
            </a:solidFill>
            <a:prstDash val="solid"/>
          </a:ln>
        </p:spPr>
      </p:sp>
      <p:sp>
        <p:nvSpPr>
          <p:cNvPr id="4" name="Text 2"/>
          <p:cNvSpPr txBox="1"/>
          <p:nvPr/>
        </p:nvSpPr>
        <p:spPr>
          <a:xfrm>
            <a:off x="685800" y="1371600"/>
            <a:ext cx="2011680" cy="3657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Architecture</a:t>
            </a:r>
            <a:endParaRPr lang="en-US" sz="1500" dirty="0"/>
          </a:p>
        </p:txBody>
      </p:sp>
      <p:sp>
        <p:nvSpPr>
          <p:cNvPr id="5" name="Text 3"/>
          <p:cNvSpPr txBox="1"/>
          <p:nvPr/>
        </p:nvSpPr>
        <p:spPr>
          <a:xfrm>
            <a:off x="685800" y="1783080"/>
            <a:ext cx="2011680" cy="123444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Three model families (boxes, heatmap, YOLO) all land at F1 ~0.11</a:t>
            </a:r>
            <a:endParaRPr lang="en-US" sz="1300" dirty="0"/>
          </a:p>
        </p:txBody>
      </p:sp>
      <p:sp>
        <p:nvSpPr>
          <p:cNvPr id="6" name="Shape 4"/>
          <p:cNvSpPr/>
          <p:nvPr/>
        </p:nvSpPr>
        <p:spPr>
          <a:xfrm>
            <a:off x="3063240" y="1234440"/>
            <a:ext cx="2286000" cy="1874520"/>
          </a:xfrm>
          <a:prstGeom prst="rect">
            <a:avLst/>
          </a:prstGeom>
          <a:solidFill>
            <a:srgbClr val="FFFFFF"/>
          </a:solidFill>
          <a:ln w="12700">
            <a:solidFill>
              <a:srgbClr val="000000"/>
            </a:solidFill>
            <a:prstDash val="solid"/>
          </a:ln>
        </p:spPr>
      </p:sp>
      <p:sp>
        <p:nvSpPr>
          <p:cNvPr id="7" name="Text 5"/>
          <p:cNvSpPr txBox="1"/>
          <p:nvPr/>
        </p:nvSpPr>
        <p:spPr>
          <a:xfrm>
            <a:off x="3200400" y="1371600"/>
            <a:ext cx="2011680" cy="3657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Training</a:t>
            </a:r>
            <a:endParaRPr lang="en-US" sz="1500" dirty="0"/>
          </a:p>
        </p:txBody>
      </p:sp>
      <p:sp>
        <p:nvSpPr>
          <p:cNvPr id="8" name="Text 6"/>
          <p:cNvSpPr txBox="1"/>
          <p:nvPr/>
        </p:nvSpPr>
        <p:spPr>
          <a:xfrm>
            <a:off x="3200400" y="1783080"/>
            <a:ext cx="2011680" cy="123444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Weighted MSE loss collapsed to a blank map; focal loss learned, still ~0.11</a:t>
            </a:r>
            <a:endParaRPr lang="en-US" sz="1300" dirty="0"/>
          </a:p>
        </p:txBody>
      </p:sp>
      <p:sp>
        <p:nvSpPr>
          <p:cNvPr id="9" name="Shape 7"/>
          <p:cNvSpPr/>
          <p:nvPr/>
        </p:nvSpPr>
        <p:spPr>
          <a:xfrm>
            <a:off x="5577840" y="1234440"/>
            <a:ext cx="2286000" cy="1874520"/>
          </a:xfrm>
          <a:prstGeom prst="rect">
            <a:avLst/>
          </a:prstGeom>
          <a:solidFill>
            <a:srgbClr val="FFFFFF"/>
          </a:solidFill>
          <a:ln w="12700">
            <a:solidFill>
              <a:srgbClr val="000000"/>
            </a:solidFill>
            <a:prstDash val="solid"/>
          </a:ln>
        </p:spPr>
      </p:sp>
      <p:sp>
        <p:nvSpPr>
          <p:cNvPr id="10" name="Text 8"/>
          <p:cNvSpPr txBox="1"/>
          <p:nvPr/>
        </p:nvSpPr>
        <p:spPr>
          <a:xfrm>
            <a:off x="5715000" y="1371600"/>
            <a:ext cx="2011680" cy="3657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Resolution</a:t>
            </a:r>
            <a:endParaRPr lang="en-US" sz="1500" dirty="0"/>
          </a:p>
        </p:txBody>
      </p:sp>
      <p:sp>
        <p:nvSpPr>
          <p:cNvPr id="11" name="Text 9"/>
          <p:cNvSpPr txBox="1"/>
          <p:nvPr/>
        </p:nvSpPr>
        <p:spPr>
          <a:xfrm>
            <a:off x="5715000" y="1783080"/>
            <a:ext cx="2011680" cy="123444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Tried 1.6, 3, 5, and 10 cm per pixel; 5 cm best, none fixes it</a:t>
            </a:r>
            <a:endParaRPr lang="en-US" sz="1300" dirty="0"/>
          </a:p>
        </p:txBody>
      </p:sp>
      <p:sp>
        <p:nvSpPr>
          <p:cNvPr id="12" name="Shape 10"/>
          <p:cNvSpPr/>
          <p:nvPr/>
        </p:nvSpPr>
        <p:spPr>
          <a:xfrm>
            <a:off x="548640" y="3337560"/>
            <a:ext cx="2286000" cy="1874520"/>
          </a:xfrm>
          <a:prstGeom prst="rect">
            <a:avLst/>
          </a:prstGeom>
          <a:solidFill>
            <a:srgbClr val="FFFFFF"/>
          </a:solidFill>
          <a:ln w="12700">
            <a:solidFill>
              <a:srgbClr val="000000"/>
            </a:solidFill>
            <a:prstDash val="solid"/>
          </a:ln>
        </p:spPr>
      </p:sp>
      <p:sp>
        <p:nvSpPr>
          <p:cNvPr id="13" name="Text 11"/>
          <p:cNvSpPr txBox="1"/>
          <p:nvPr/>
        </p:nvSpPr>
        <p:spPr>
          <a:xfrm>
            <a:off x="685800" y="3474720"/>
            <a:ext cx="2011680" cy="3657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Box size</a:t>
            </a:r>
            <a:endParaRPr lang="en-US" sz="1500" dirty="0"/>
          </a:p>
        </p:txBody>
      </p:sp>
      <p:sp>
        <p:nvSpPr>
          <p:cNvPr id="14" name="Text 12"/>
          <p:cNvSpPr txBox="1"/>
          <p:nvPr/>
        </p:nvSpPr>
        <p:spPr>
          <a:xfrm>
            <a:off x="685800" y="3886200"/>
            <a:ext cx="2011680" cy="123444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Swept 1.5 to 3 m; 2 m best, every size near random</a:t>
            </a:r>
            <a:endParaRPr lang="en-US" sz="1300" dirty="0"/>
          </a:p>
        </p:txBody>
      </p:sp>
      <p:sp>
        <p:nvSpPr>
          <p:cNvPr id="15" name="Shape 13"/>
          <p:cNvSpPr/>
          <p:nvPr/>
        </p:nvSpPr>
        <p:spPr>
          <a:xfrm>
            <a:off x="3063240" y="3337560"/>
            <a:ext cx="2286000" cy="1874520"/>
          </a:xfrm>
          <a:prstGeom prst="rect">
            <a:avLst/>
          </a:prstGeom>
          <a:solidFill>
            <a:srgbClr val="FFFFFF"/>
          </a:solidFill>
          <a:ln w="12700">
            <a:solidFill>
              <a:srgbClr val="000000"/>
            </a:solidFill>
            <a:prstDash val="solid"/>
          </a:ln>
        </p:spPr>
      </p:sp>
      <p:sp>
        <p:nvSpPr>
          <p:cNvPr id="16" name="Text 14"/>
          <p:cNvSpPr txBox="1"/>
          <p:nvPr/>
        </p:nvSpPr>
        <p:spPr>
          <a:xfrm>
            <a:off x="3200400" y="3474720"/>
            <a:ext cx="2011680" cy="3657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Tree visibility</a:t>
            </a:r>
            <a:endParaRPr lang="en-US" sz="1500" dirty="0"/>
          </a:p>
        </p:txBody>
      </p:sp>
      <p:sp>
        <p:nvSpPr>
          <p:cNvPr id="17" name="Text 15"/>
          <p:cNvSpPr txBox="1"/>
          <p:nvPr/>
        </p:nvSpPr>
        <p:spPr>
          <a:xfrm>
            <a:off x="3200400" y="3886200"/>
            <a:ext cx="2011680" cy="123444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Recall stays ~17% even for the biggest 10% of trees</a:t>
            </a:r>
            <a:endParaRPr lang="en-US" sz="1300" dirty="0"/>
          </a:p>
        </p:txBody>
      </p:sp>
      <p:sp>
        <p:nvSpPr>
          <p:cNvPr id="18" name="Shape 16"/>
          <p:cNvSpPr/>
          <p:nvPr/>
        </p:nvSpPr>
        <p:spPr>
          <a:xfrm>
            <a:off x="5577840" y="3337560"/>
            <a:ext cx="2286000" cy="1874520"/>
          </a:xfrm>
          <a:prstGeom prst="rect">
            <a:avLst/>
          </a:prstGeom>
          <a:solidFill>
            <a:srgbClr val="FFFFFF"/>
          </a:solidFill>
          <a:ln w="12700">
            <a:solidFill>
              <a:srgbClr val="000000"/>
            </a:solidFill>
            <a:prstDash val="solid"/>
          </a:ln>
        </p:spPr>
      </p:sp>
      <p:sp>
        <p:nvSpPr>
          <p:cNvPr id="19" name="Text 17"/>
          <p:cNvSpPr txBox="1"/>
          <p:nvPr/>
        </p:nvSpPr>
        <p:spPr>
          <a:xfrm>
            <a:off x="5715000" y="3474720"/>
            <a:ext cx="2011680" cy="3657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Alignment</a:t>
            </a:r>
            <a:endParaRPr lang="en-US" sz="1500" dirty="0"/>
          </a:p>
        </p:txBody>
      </p:sp>
      <p:sp>
        <p:nvSpPr>
          <p:cNvPr id="20" name="Text 18"/>
          <p:cNvSpPr txBox="1"/>
          <p:nvPr/>
        </p:nvSpPr>
        <p:spPr>
          <a:xfrm>
            <a:off x="5715000" y="3886200"/>
            <a:ext cx="2011680" cy="123444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Palm points sit on palm crowns; shifting or rotating the survey never helps</a:t>
            </a:r>
            <a:endParaRPr lang="en-US" sz="1300" dirty="0"/>
          </a:p>
        </p:txBody>
      </p:sp>
      <p:pic>
        <p:nvPicPr>
          <p:cNvPr id="21" name="Image 0" descr="/home/claude/deck/img/offset_sweep_left.jpg">    </p:cNvPr>
          <p:cNvPicPr>
            <a:picLocks noChangeAspect="1"/>
          </p:cNvPicPr>
          <p:nvPr/>
        </p:nvPicPr>
        <p:blipFill>
          <a:blip r:embed="rId1"/>
          <a:stretch>
            <a:fillRect/>
          </a:stretch>
        </p:blipFill>
        <p:spPr>
          <a:xfrm>
            <a:off x="8275320" y="1234440"/>
            <a:ext cx="3383280" cy="3410712"/>
          </a:xfrm>
          <a:prstGeom prst="rect">
            <a:avLst/>
          </a:prstGeom>
        </p:spPr>
      </p:pic>
      <p:sp>
        <p:nvSpPr>
          <p:cNvPr id="22" name="Text 19"/>
          <p:cNvSpPr txBox="1"/>
          <p:nvPr/>
        </p:nvSpPr>
        <p:spPr>
          <a:xfrm>
            <a:off x="8275320" y="4681728"/>
            <a:ext cx="3383280" cy="45720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Recall vs. shifting the survey points up to 20 m: best at no shift</a:t>
            </a:r>
            <a:endParaRPr lang="en-US" sz="1100" dirty="0"/>
          </a:p>
        </p:txBody>
      </p:sp>
      <p:sp>
        <p:nvSpPr>
          <p:cNvPr id="23" name="Text 20"/>
          <p:cNvSpPr txBox="1"/>
          <p:nvPr/>
        </p:nvSpPr>
        <p:spPr>
          <a:xfrm>
            <a:off x="548640" y="5532120"/>
            <a:ext cx="11064240" cy="73152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Conclusion: flat RGB can't separate overlapping crowns in dense wetland. Height data is the lever, not a better model.</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Where I used AI, and where I didn't</a:t>
            </a:r>
            <a:endParaRPr lang="en-US" sz="3000" dirty="0"/>
          </a:p>
        </p:txBody>
      </p:sp>
      <p:sp>
        <p:nvSpPr>
          <p:cNvPr id="3" name="Text 1"/>
          <p:cNvSpPr txBox="1"/>
          <p:nvPr/>
        </p:nvSpPr>
        <p:spPr>
          <a:xfrm>
            <a:off x="548640" y="1280160"/>
            <a:ext cx="5394960" cy="45720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AI-assisted (Claude, mostly Opus 4.8)</a:t>
            </a:r>
            <a:endParaRPr lang="en-US" sz="2000" dirty="0"/>
          </a:p>
        </p:txBody>
      </p:sp>
      <p:sp>
        <p:nvSpPr>
          <p:cNvPr id="4" name="Text 2"/>
          <p:cNvSpPr txBox="1"/>
          <p:nvPr/>
        </p:nvSpPr>
        <p:spPr>
          <a:xfrm>
            <a:off x="548640" y="1828800"/>
            <a:ext cx="5394960" cy="34747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000000"/>
                </a:solidFill>
                <a:latin typeface="Arial" pitchFamily="34" charset="0"/>
                <a:ea typeface="Arial" pitchFamily="34" charset="-122"/>
                <a:cs typeface="Arial" pitchFamily="34" charset="-120"/>
              </a:rPr>
              <a:t>Drafting and debugging the pipeline scripts</a:t>
            </a:r>
            <a:endParaRPr lang="en-US" sz="1600" dirty="0"/>
          </a:p>
          <a:p>
            <a:pPr marL="342900" indent="-342900">
              <a:spcAft>
                <a:spcPts val="1200"/>
              </a:spcAft>
              <a:buSzPct val="100000"/>
              <a:buChar char="•"/>
            </a:pPr>
            <a:r>
              <a:rPr lang="en-US" sz="1600" dirty="0">
                <a:solidFill>
                  <a:srgbClr val="000000"/>
                </a:solidFill>
                <a:latin typeface="Arial" pitchFamily="34" charset="0"/>
                <a:ea typeface="Arial" pitchFamily="34" charset="-122"/>
                <a:cs typeface="Arial" pitchFamily="34" charset="-120"/>
              </a:rPr>
              <a:t>Plotting and figure code for every step</a:t>
            </a:r>
            <a:endParaRPr lang="en-US" sz="1600" dirty="0"/>
          </a:p>
          <a:p>
            <a:pPr marL="342900" indent="-342900">
              <a:spcAft>
                <a:spcPts val="1200"/>
              </a:spcAft>
              <a:buSzPct val="100000"/>
              <a:buChar char="•"/>
            </a:pPr>
            <a:r>
              <a:rPr lang="en-US" sz="1600" dirty="0">
                <a:solidFill>
                  <a:srgbClr val="000000"/>
                </a:solidFill>
                <a:latin typeface="Arial" pitchFamily="34" charset="0"/>
                <a:ea typeface="Arial" pitchFamily="34" charset="-122"/>
                <a:cs typeface="Arial" pitchFamily="34" charset="-120"/>
              </a:rPr>
              <a:t>READMEs, methods notes, and commit write-ups</a:t>
            </a:r>
            <a:endParaRPr lang="en-US" sz="1600" dirty="0"/>
          </a:p>
          <a:p>
            <a:pPr marL="342900" indent="-342900">
              <a:spcAft>
                <a:spcPts val="1200"/>
              </a:spcAft>
              <a:buSzPct val="100000"/>
              <a:buChar char="•"/>
            </a:pPr>
            <a:r>
              <a:rPr lang="en-US" sz="1600" dirty="0">
                <a:solidFill>
                  <a:srgbClr val="000000"/>
                </a:solidFill>
                <a:latin typeface="Arial" pitchFamily="34" charset="0"/>
                <a:ea typeface="Arial" pitchFamily="34" charset="-122"/>
                <a:cs typeface="Arial" pitchFamily="34" charset="-120"/>
              </a:rPr>
              <a:t>Writing the Claude Code prompts, with me setting the direction (next slides)</a:t>
            </a:r>
            <a:endParaRPr lang="en-US" sz="1600" dirty="0"/>
          </a:p>
        </p:txBody>
      </p:sp>
      <p:sp>
        <p:nvSpPr>
          <p:cNvPr id="5" name="Text 3"/>
          <p:cNvSpPr txBox="1"/>
          <p:nvPr/>
        </p:nvSpPr>
        <p:spPr>
          <a:xfrm>
            <a:off x="6309360" y="1280160"/>
            <a:ext cx="5303520" cy="457200"/>
          </a:xfrm>
          <a:prstGeom prst="rect">
            <a:avLst/>
          </a:prstGeom>
          <a:noFill/>
          <a:ln/>
        </p:spPr>
        <p:txBody>
          <a:bodyPr wrap="square" lIns="0" tIns="0" rIns="0" bIns="0" rtlCol="0" anchor="t"/>
          <a:lstStyle/>
          <a:p>
            <a:pPr indent="0" marL="0">
              <a:buNone/>
            </a:pPr>
            <a:r>
              <a:rPr lang="en-US" sz="2000" b="1" dirty="0">
                <a:solidFill>
                  <a:srgbClr val="000000"/>
                </a:solidFill>
                <a:latin typeface="Arial" pitchFamily="34" charset="0"/>
                <a:ea typeface="Arial" pitchFamily="34" charset="-122"/>
                <a:cs typeface="Arial" pitchFamily="34" charset="-120"/>
              </a:rPr>
              <a:t>Done myself</a:t>
            </a:r>
            <a:endParaRPr lang="en-US" sz="2000" dirty="0"/>
          </a:p>
        </p:txBody>
      </p:sp>
      <p:sp>
        <p:nvSpPr>
          <p:cNvPr id="6" name="Text 4"/>
          <p:cNvSpPr txBox="1"/>
          <p:nvPr/>
        </p:nvSpPr>
        <p:spPr>
          <a:xfrm>
            <a:off x="6309360" y="1828800"/>
            <a:ext cx="5303520" cy="347472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000000"/>
                </a:solidFill>
                <a:latin typeface="Arial" pitchFamily="34" charset="0"/>
                <a:ea typeface="Arial" pitchFamily="34" charset="-122"/>
                <a:cs typeface="Arial" pitchFamily="34" charset="-120"/>
              </a:rPr>
              <a:t>Data inspection: </a:t>
            </a:r>
            <a:pPr indent="0" marL="0">
              <a:spcAft>
                <a:spcPts val="1200"/>
              </a:spcAft>
              <a:buNone/>
            </a:pPr>
            <a:r>
              <a:rPr lang="en-US" sz="1600" dirty="0">
                <a:solidFill>
                  <a:srgbClr val="000000"/>
                </a:solidFill>
                <a:latin typeface="Arial" pitchFamily="34" charset="0"/>
                <a:ea typeface="Arial" pitchFamily="34" charset="-122"/>
                <a:cs typeface="Arial" pitchFamily="34" charset="-120"/>
              </a:rPr>
              <a:t>finding the missing-tree problem and choosing point-first labels</a:t>
            </a:r>
            <a:endParaRPr lang="en-US" sz="1600" dirty="0"/>
          </a:p>
          <a:p>
            <a:pPr marL="342900" indent="-342900">
              <a:spcAft>
                <a:spcPts val="1200"/>
              </a:spcAft>
              <a:buSzPct val="100000"/>
              <a:buChar char="•"/>
            </a:pPr>
            <a:r>
              <a:rPr lang="en-US" sz="1600" b="1" dirty="0">
                <a:solidFill>
                  <a:srgbClr val="000000"/>
                </a:solidFill>
                <a:latin typeface="Arial" pitchFamily="34" charset="0"/>
                <a:ea typeface="Arial" pitchFamily="34" charset="-122"/>
                <a:cs typeface="Arial" pitchFamily="34" charset="-120"/>
              </a:rPr>
              <a:t>Experiment design: </a:t>
            </a:r>
            <a:pPr indent="0" marL="0">
              <a:spcAft>
                <a:spcPts val="1200"/>
              </a:spcAft>
              <a:buNone/>
            </a:pPr>
            <a:r>
              <a:rPr lang="en-US" sz="1600" dirty="0">
                <a:solidFill>
                  <a:srgbClr val="000000"/>
                </a:solidFill>
                <a:latin typeface="Arial" pitchFamily="34" charset="0"/>
                <a:ea typeface="Arial" pitchFamily="34" charset="-122"/>
                <a:cs typeface="Arial" pitchFamily="34" charset="-120"/>
              </a:rPr>
              <a:t>what to test next, which excuses to rule out, when to stop</a:t>
            </a:r>
            <a:endParaRPr lang="en-US" sz="1600" dirty="0"/>
          </a:p>
          <a:p>
            <a:pPr marL="342900" indent="-342900">
              <a:spcAft>
                <a:spcPts val="1200"/>
              </a:spcAft>
              <a:buSzPct val="100000"/>
              <a:buChar char="•"/>
            </a:pPr>
            <a:r>
              <a:rPr lang="en-US" sz="1600" b="1" dirty="0">
                <a:solidFill>
                  <a:srgbClr val="000000"/>
                </a:solidFill>
                <a:latin typeface="Arial" pitchFamily="34" charset="0"/>
                <a:ea typeface="Arial" pitchFamily="34" charset="-122"/>
                <a:cs typeface="Arial" pitchFamily="34" charset="-120"/>
              </a:rPr>
              <a:t>Manual audit: </a:t>
            </a:r>
            <a:pPr indent="0" marL="0">
              <a:spcAft>
                <a:spcPts val="1200"/>
              </a:spcAft>
              <a:buNone/>
            </a:pPr>
            <a:r>
              <a:rPr lang="en-US" sz="1600" dirty="0">
                <a:solidFill>
                  <a:srgbClr val="000000"/>
                </a:solidFill>
                <a:latin typeface="Arial" pitchFamily="34" charset="0"/>
                <a:ea typeface="Arial" pitchFamily="34" charset="-122"/>
                <a:cs typeface="Arial" pitchFamily="34" charset="-120"/>
              </a:rPr>
              <a:t>hand-tagging 100 false positives in QGIS, the palm visual check</a:t>
            </a:r>
            <a:endParaRPr lang="en-US" sz="1600" dirty="0"/>
          </a:p>
          <a:p>
            <a:pPr marL="342900" indent="-342900">
              <a:spcAft>
                <a:spcPts val="1200"/>
              </a:spcAft>
              <a:buSzPct val="100000"/>
              <a:buChar char="•"/>
            </a:pPr>
            <a:r>
              <a:rPr lang="en-US" sz="1600" b="1" dirty="0">
                <a:solidFill>
                  <a:srgbClr val="000000"/>
                </a:solidFill>
                <a:latin typeface="Arial" pitchFamily="34" charset="0"/>
                <a:ea typeface="Arial" pitchFamily="34" charset="-122"/>
                <a:cs typeface="Arial" pitchFamily="34" charset="-120"/>
              </a:rPr>
              <a:t>Interpretation: </a:t>
            </a:r>
            <a:pPr indent="0" marL="0">
              <a:spcAft>
                <a:spcPts val="1200"/>
              </a:spcAft>
              <a:buNone/>
            </a:pPr>
            <a:r>
              <a:rPr lang="en-US" sz="1600" dirty="0">
                <a:solidFill>
                  <a:srgbClr val="000000"/>
                </a:solidFill>
                <a:latin typeface="Arial" pitchFamily="34" charset="0"/>
                <a:ea typeface="Arial" pitchFamily="34" charset="-122"/>
                <a:cs typeface="Arial" pitchFamily="34" charset="-120"/>
              </a:rPr>
              <a:t>deciding what's real vs. an artifact, and catching overclaims (0.96 became ~0.61)</a:t>
            </a:r>
            <a:endParaRPr lang="en-US" sz="1600" dirty="0"/>
          </a:p>
        </p:txBody>
      </p:sp>
      <p:sp>
        <p:nvSpPr>
          <p:cNvPr id="7" name="Text 5"/>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AI made the building fast. Every conclusion was checked against the data by me.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AI reproducibility: how each experiment was run</a:t>
            </a:r>
            <a:endParaRPr lang="en-US" sz="3000" dirty="0"/>
          </a:p>
        </p:txBody>
      </p:sp>
      <p:sp>
        <p:nvSpPr>
          <p:cNvPr id="3" name="Shape 1"/>
          <p:cNvSpPr/>
          <p:nvPr/>
        </p:nvSpPr>
        <p:spPr>
          <a:xfrm>
            <a:off x="548640" y="1280160"/>
            <a:ext cx="2011680" cy="2057400"/>
          </a:xfrm>
          <a:prstGeom prst="rect">
            <a:avLst/>
          </a:prstGeom>
          <a:solidFill>
            <a:srgbClr val="FFFFFF"/>
          </a:solidFill>
          <a:ln w="12700">
            <a:solidFill>
              <a:srgbClr val="000000"/>
            </a:solidFill>
            <a:prstDash val="solid"/>
          </a:ln>
        </p:spPr>
      </p:sp>
      <p:sp>
        <p:nvSpPr>
          <p:cNvPr id="4" name="Text 2"/>
          <p:cNvSpPr txBox="1"/>
          <p:nvPr/>
        </p:nvSpPr>
        <p:spPr>
          <a:xfrm>
            <a:off x="658368" y="1389888"/>
            <a:ext cx="1792224"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1. I set the question</a:t>
            </a:r>
            <a:endParaRPr lang="en-US" sz="1400" dirty="0"/>
          </a:p>
        </p:txBody>
      </p:sp>
      <p:sp>
        <p:nvSpPr>
          <p:cNvPr id="5" name="Text 3"/>
          <p:cNvSpPr txBox="1"/>
          <p:nvPr/>
        </p:nvSpPr>
        <p:spPr>
          <a:xfrm>
            <a:off x="658368" y="2011680"/>
            <a:ext cx="1792224" cy="12344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Chosen from the last result, e.g. "is the Big Cypress failure an alignment bug?"</a:t>
            </a:r>
            <a:endParaRPr lang="en-US" sz="1250" dirty="0"/>
          </a:p>
        </p:txBody>
      </p:sp>
      <p:sp>
        <p:nvSpPr>
          <p:cNvPr id="6" name="Shape 4"/>
          <p:cNvSpPr/>
          <p:nvPr/>
        </p:nvSpPr>
        <p:spPr>
          <a:xfrm>
            <a:off x="2578608" y="2308860"/>
            <a:ext cx="210312" cy="0"/>
          </a:xfrm>
          <a:prstGeom prst="line">
            <a:avLst/>
          </a:prstGeom>
          <a:noFill/>
          <a:ln w="15875">
            <a:solidFill>
              <a:srgbClr val="000000"/>
            </a:solidFill>
            <a:prstDash val="solid"/>
            <a:tailEnd type="triangle"/>
          </a:ln>
        </p:spPr>
      </p:sp>
      <p:sp>
        <p:nvSpPr>
          <p:cNvPr id="7" name="Shape 5"/>
          <p:cNvSpPr/>
          <p:nvPr/>
        </p:nvSpPr>
        <p:spPr>
          <a:xfrm>
            <a:off x="2807208" y="1280160"/>
            <a:ext cx="2011680" cy="2057400"/>
          </a:xfrm>
          <a:prstGeom prst="rect">
            <a:avLst/>
          </a:prstGeom>
          <a:solidFill>
            <a:srgbClr val="FFFFFF"/>
          </a:solidFill>
          <a:ln w="12700">
            <a:solidFill>
              <a:srgbClr val="000000"/>
            </a:solidFill>
            <a:prstDash val="solid"/>
          </a:ln>
        </p:spPr>
      </p:sp>
      <p:sp>
        <p:nvSpPr>
          <p:cNvPr id="8" name="Text 6"/>
          <p:cNvSpPr txBox="1"/>
          <p:nvPr/>
        </p:nvSpPr>
        <p:spPr>
          <a:xfrm>
            <a:off x="2916936" y="1389888"/>
            <a:ext cx="1792224"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2. Claude writes the prompt</a:t>
            </a:r>
            <a:endParaRPr lang="en-US" sz="1400" dirty="0"/>
          </a:p>
        </p:txBody>
      </p:sp>
      <p:sp>
        <p:nvSpPr>
          <p:cNvPr id="9" name="Text 7"/>
          <p:cNvSpPr txBox="1"/>
          <p:nvPr/>
        </p:nvSpPr>
        <p:spPr>
          <a:xfrm>
            <a:off x="2916936" y="2011680"/>
            <a:ext cx="1792224" cy="12344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In chat, Claude drafts a Claude Code prompt from my direction; I review and correct it</a:t>
            </a:r>
            <a:endParaRPr lang="en-US" sz="1250" dirty="0"/>
          </a:p>
        </p:txBody>
      </p:sp>
      <p:sp>
        <p:nvSpPr>
          <p:cNvPr id="10" name="Shape 8"/>
          <p:cNvSpPr/>
          <p:nvPr/>
        </p:nvSpPr>
        <p:spPr>
          <a:xfrm>
            <a:off x="4837176" y="2308860"/>
            <a:ext cx="210312" cy="0"/>
          </a:xfrm>
          <a:prstGeom prst="line">
            <a:avLst/>
          </a:prstGeom>
          <a:noFill/>
          <a:ln w="15875">
            <a:solidFill>
              <a:srgbClr val="000000"/>
            </a:solidFill>
            <a:prstDash val="solid"/>
            <a:tailEnd type="triangle"/>
          </a:ln>
        </p:spPr>
      </p:sp>
      <p:sp>
        <p:nvSpPr>
          <p:cNvPr id="11" name="Shape 9"/>
          <p:cNvSpPr/>
          <p:nvPr/>
        </p:nvSpPr>
        <p:spPr>
          <a:xfrm>
            <a:off x="5065776" y="1280160"/>
            <a:ext cx="2011680" cy="2057400"/>
          </a:xfrm>
          <a:prstGeom prst="rect">
            <a:avLst/>
          </a:prstGeom>
          <a:solidFill>
            <a:srgbClr val="FFFFFF"/>
          </a:solidFill>
          <a:ln w="12700">
            <a:solidFill>
              <a:srgbClr val="000000"/>
            </a:solidFill>
            <a:prstDash val="solid"/>
          </a:ln>
        </p:spPr>
      </p:sp>
      <p:sp>
        <p:nvSpPr>
          <p:cNvPr id="12" name="Text 10"/>
          <p:cNvSpPr txBox="1"/>
          <p:nvPr/>
        </p:nvSpPr>
        <p:spPr>
          <a:xfrm>
            <a:off x="5175504" y="1389888"/>
            <a:ext cx="1792224"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3. Claude Code runs it</a:t>
            </a:r>
            <a:endParaRPr lang="en-US" sz="1400" dirty="0"/>
          </a:p>
        </p:txBody>
      </p:sp>
      <p:sp>
        <p:nvSpPr>
          <p:cNvPr id="13" name="Text 11"/>
          <p:cNvSpPr txBox="1"/>
          <p:nvPr/>
        </p:nvSpPr>
        <p:spPr>
          <a:xfrm>
            <a:off x="5175504" y="2011680"/>
            <a:ext cx="1792224" cy="12344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Opus 4.8 writes the script, trains or evaluates on my MacBook, saves figures and CSVs</a:t>
            </a:r>
            <a:endParaRPr lang="en-US" sz="1250" dirty="0"/>
          </a:p>
        </p:txBody>
      </p:sp>
      <p:sp>
        <p:nvSpPr>
          <p:cNvPr id="14" name="Shape 12"/>
          <p:cNvSpPr/>
          <p:nvPr/>
        </p:nvSpPr>
        <p:spPr>
          <a:xfrm>
            <a:off x="7095744" y="2308860"/>
            <a:ext cx="210312" cy="0"/>
          </a:xfrm>
          <a:prstGeom prst="line">
            <a:avLst/>
          </a:prstGeom>
          <a:noFill/>
          <a:ln w="15875">
            <a:solidFill>
              <a:srgbClr val="000000"/>
            </a:solidFill>
            <a:prstDash val="solid"/>
            <a:tailEnd type="triangle"/>
          </a:ln>
        </p:spPr>
      </p:sp>
      <p:sp>
        <p:nvSpPr>
          <p:cNvPr id="15" name="Shape 13"/>
          <p:cNvSpPr/>
          <p:nvPr/>
        </p:nvSpPr>
        <p:spPr>
          <a:xfrm>
            <a:off x="7324344" y="1280160"/>
            <a:ext cx="2011680" cy="2057400"/>
          </a:xfrm>
          <a:prstGeom prst="rect">
            <a:avLst/>
          </a:prstGeom>
          <a:solidFill>
            <a:srgbClr val="FFFFFF"/>
          </a:solidFill>
          <a:ln w="12700">
            <a:solidFill>
              <a:srgbClr val="000000"/>
            </a:solidFill>
            <a:prstDash val="solid"/>
          </a:ln>
        </p:spPr>
      </p:sp>
      <p:sp>
        <p:nvSpPr>
          <p:cNvPr id="16" name="Text 14"/>
          <p:cNvSpPr txBox="1"/>
          <p:nvPr/>
        </p:nvSpPr>
        <p:spPr>
          <a:xfrm>
            <a:off x="7434072" y="1389888"/>
            <a:ext cx="1792224"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4. I check the output</a:t>
            </a:r>
            <a:endParaRPr lang="en-US" sz="1400" dirty="0"/>
          </a:p>
        </p:txBody>
      </p:sp>
      <p:sp>
        <p:nvSpPr>
          <p:cNvPr id="17" name="Text 15"/>
          <p:cNvSpPr txBox="1"/>
          <p:nvPr/>
        </p:nvSpPr>
        <p:spPr>
          <a:xfrm>
            <a:off x="7434072" y="2011680"/>
            <a:ext cx="1792224" cy="12344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Open the figures, compare to the data, hand-check where needed, reject overclaims</a:t>
            </a:r>
            <a:endParaRPr lang="en-US" sz="1250" dirty="0"/>
          </a:p>
        </p:txBody>
      </p:sp>
      <p:sp>
        <p:nvSpPr>
          <p:cNvPr id="18" name="Shape 16"/>
          <p:cNvSpPr/>
          <p:nvPr/>
        </p:nvSpPr>
        <p:spPr>
          <a:xfrm>
            <a:off x="9354312" y="2308860"/>
            <a:ext cx="210312" cy="0"/>
          </a:xfrm>
          <a:prstGeom prst="line">
            <a:avLst/>
          </a:prstGeom>
          <a:noFill/>
          <a:ln w="15875">
            <a:solidFill>
              <a:srgbClr val="000000"/>
            </a:solidFill>
            <a:prstDash val="solid"/>
            <a:tailEnd type="triangle"/>
          </a:ln>
        </p:spPr>
      </p:sp>
      <p:sp>
        <p:nvSpPr>
          <p:cNvPr id="19" name="Shape 17"/>
          <p:cNvSpPr/>
          <p:nvPr/>
        </p:nvSpPr>
        <p:spPr>
          <a:xfrm>
            <a:off x="9582912" y="1280160"/>
            <a:ext cx="2011680" cy="2057400"/>
          </a:xfrm>
          <a:prstGeom prst="rect">
            <a:avLst/>
          </a:prstGeom>
          <a:solidFill>
            <a:srgbClr val="FFFFFF"/>
          </a:solidFill>
          <a:ln w="12700">
            <a:solidFill>
              <a:srgbClr val="000000"/>
            </a:solidFill>
            <a:prstDash val="solid"/>
          </a:ln>
        </p:spPr>
      </p:sp>
      <p:sp>
        <p:nvSpPr>
          <p:cNvPr id="20" name="Text 18"/>
          <p:cNvSpPr txBox="1"/>
          <p:nvPr/>
        </p:nvSpPr>
        <p:spPr>
          <a:xfrm>
            <a:off x="9692640" y="1389888"/>
            <a:ext cx="1792224"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5. Commit</a:t>
            </a:r>
            <a:endParaRPr lang="en-US" sz="1400" dirty="0"/>
          </a:p>
        </p:txBody>
      </p:sp>
      <p:sp>
        <p:nvSpPr>
          <p:cNvPr id="21" name="Text 19"/>
          <p:cNvSpPr txBox="1"/>
          <p:nvPr/>
        </p:nvSpPr>
        <p:spPr>
          <a:xfrm>
            <a:off x="9692640" y="2011680"/>
            <a:ext cx="1792224" cy="12344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One commit per experiment, with the numbers and settings in the message</a:t>
            </a:r>
            <a:endParaRPr lang="en-US" sz="1250" dirty="0"/>
          </a:p>
        </p:txBody>
      </p:sp>
      <p:sp>
        <p:nvSpPr>
          <p:cNvPr id="22" name="Shape 20"/>
          <p:cNvSpPr/>
          <p:nvPr/>
        </p:nvSpPr>
        <p:spPr>
          <a:xfrm>
            <a:off x="10588752" y="3337560"/>
            <a:ext cx="0" cy="320040"/>
          </a:xfrm>
          <a:prstGeom prst="line">
            <a:avLst/>
          </a:prstGeom>
          <a:noFill/>
          <a:ln w="15875">
            <a:solidFill>
              <a:srgbClr val="000000"/>
            </a:solidFill>
            <a:prstDash val="solid"/>
          </a:ln>
        </p:spPr>
      </p:sp>
      <p:sp>
        <p:nvSpPr>
          <p:cNvPr id="23" name="Shape 21"/>
          <p:cNvSpPr/>
          <p:nvPr/>
        </p:nvSpPr>
        <p:spPr>
          <a:xfrm>
            <a:off x="1554480" y="3657600"/>
            <a:ext cx="9034272" cy="0"/>
          </a:xfrm>
          <a:prstGeom prst="line">
            <a:avLst/>
          </a:prstGeom>
          <a:noFill/>
          <a:ln w="15875">
            <a:solidFill>
              <a:srgbClr val="000000"/>
            </a:solidFill>
            <a:prstDash val="solid"/>
          </a:ln>
        </p:spPr>
      </p:sp>
      <p:sp>
        <p:nvSpPr>
          <p:cNvPr id="24" name="Shape 22"/>
          <p:cNvSpPr/>
          <p:nvPr/>
        </p:nvSpPr>
        <p:spPr>
          <a:xfrm flipV="1">
            <a:off x="1554480" y="3355848"/>
            <a:ext cx="0" cy="301752"/>
          </a:xfrm>
          <a:prstGeom prst="line">
            <a:avLst/>
          </a:prstGeom>
          <a:noFill/>
          <a:ln w="15875">
            <a:solidFill>
              <a:srgbClr val="000000"/>
            </a:solidFill>
            <a:prstDash val="solid"/>
            <a:tailEnd type="triangle"/>
          </a:ln>
        </p:spPr>
      </p:sp>
      <p:sp>
        <p:nvSpPr>
          <p:cNvPr id="25" name="Text 23"/>
          <p:cNvSpPr txBox="1"/>
          <p:nvPr/>
        </p:nvSpPr>
        <p:spPr>
          <a:xfrm>
            <a:off x="4480560" y="3703320"/>
            <a:ext cx="3200400" cy="27432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result decides the next question</a:t>
            </a:r>
            <a:endParaRPr lang="en-US" sz="1100" dirty="0"/>
          </a:p>
        </p:txBody>
      </p:sp>
      <p:sp>
        <p:nvSpPr>
          <p:cNvPr id="26" name="Text 24"/>
          <p:cNvSpPr txBox="1"/>
          <p:nvPr/>
        </p:nvSpPr>
        <p:spPr>
          <a:xfrm>
            <a:off x="548640" y="4160520"/>
            <a:ext cx="5394960" cy="3657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Models and tools</a:t>
            </a:r>
            <a:endParaRPr lang="en-US" sz="1700" dirty="0"/>
          </a:p>
        </p:txBody>
      </p:sp>
      <p:sp>
        <p:nvSpPr>
          <p:cNvPr id="27" name="Text 25"/>
          <p:cNvSpPr txBox="1"/>
          <p:nvPr/>
        </p:nvSpPr>
        <p:spPr>
          <a:xfrm>
            <a:off x="548640" y="4572000"/>
            <a:ext cx="539496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Claude (chat) wrote every Claude Code prompt, guided by me</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Claude Opus 4.8 in Claude Code for most experiments and training runs</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The last commit (s20) credits Claude Fable 5 instead</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Every run executed locally on my MacBook, not in the cloud</a:t>
            </a:r>
            <a:endParaRPr lang="en-US" sz="1400" dirty="0"/>
          </a:p>
        </p:txBody>
      </p:sp>
      <p:sp>
        <p:nvSpPr>
          <p:cNvPr id="28" name="Text 26"/>
          <p:cNvSpPr txBox="1"/>
          <p:nvPr/>
        </p:nvSpPr>
        <p:spPr>
          <a:xfrm>
            <a:off x="6309360" y="4160520"/>
            <a:ext cx="5303520" cy="3657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What makes it reproducible</a:t>
            </a:r>
            <a:endParaRPr lang="en-US" sz="1700" dirty="0"/>
          </a:p>
        </p:txBody>
      </p:sp>
      <p:sp>
        <p:nvSpPr>
          <p:cNvPr id="29" name="Text 27"/>
          <p:cNvSpPr txBox="1"/>
          <p:nvPr/>
        </p:nvSpPr>
        <p:spPr>
          <a:xfrm>
            <a:off x="6309360" y="4572000"/>
            <a:ext cx="530352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Every setting in config.yaml, fixed random seeds</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Exact numbers and run settings written into each commit</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Commits from July on link to the Claude session that produced them</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Baseline check: s09 re-runs the saved model and stops if scores drift by more than 0.03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a prompt looked like</a:t>
            </a:r>
            <a:endParaRPr lang="en-US" sz="3000" dirty="0"/>
          </a:p>
        </p:txBody>
      </p:sp>
      <p:sp>
        <p:nvSpPr>
          <p:cNvPr id="3" name="Text 1"/>
          <p:cNvSpPr txBox="1"/>
          <p:nvPr/>
        </p:nvSpPr>
        <p:spPr>
          <a:xfrm>
            <a:off x="548640" y="1188720"/>
            <a:ext cx="6309360" cy="3200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Example: the s18 alignment check (the spec recorded at the top of the script, condensed)</a:t>
            </a:r>
            <a:endParaRPr lang="en-US" sz="1200" dirty="0"/>
          </a:p>
        </p:txBody>
      </p:sp>
      <p:sp>
        <p:nvSpPr>
          <p:cNvPr id="4" name="Shape 2"/>
          <p:cNvSpPr/>
          <p:nvPr/>
        </p:nvSpPr>
        <p:spPr>
          <a:xfrm>
            <a:off x="548640" y="1554480"/>
            <a:ext cx="6309360" cy="4663440"/>
          </a:xfrm>
          <a:prstGeom prst="rect">
            <a:avLst/>
          </a:prstGeom>
          <a:solidFill>
            <a:srgbClr val="FFFFFF"/>
          </a:solidFill>
          <a:ln w="12700">
            <a:solidFill>
              <a:srgbClr val="000000"/>
            </a:solidFill>
            <a:prstDash val="solid"/>
          </a:ln>
        </p:spPr>
      </p:sp>
      <p:sp>
        <p:nvSpPr>
          <p:cNvPr id="5" name="Text 3"/>
          <p:cNvSpPr txBox="1"/>
          <p:nvPr/>
        </p:nvSpPr>
        <p:spPr>
          <a:xfrm>
            <a:off x="731520" y="1691640"/>
            <a:ext cx="5943600" cy="4434840"/>
          </a:xfrm>
          <a:prstGeom prst="rect">
            <a:avLst/>
          </a:prstGeom>
          <a:noFill/>
          <a:ln/>
        </p:spPr>
        <p:txBody>
          <a:bodyPr wrap="square" lIns="0" tIns="0" rIns="0" bIns="0" rtlCol="0" anchor="t"/>
          <a:lstStyle/>
          <a:p>
            <a:pPr indent="0" marL="0">
              <a:spcAft>
                <a:spcPts val="1000"/>
              </a:spcAft>
              <a:buNone/>
            </a:pPr>
            <a:r>
              <a:rPr lang="en-US" sz="1250" b="1" dirty="0">
                <a:solidFill>
                  <a:srgbClr val="000000"/>
                </a:solidFill>
                <a:latin typeface="Courier New" pitchFamily="34" charset="0"/>
                <a:ea typeface="Courier New" pitchFamily="34" charset="-122"/>
                <a:cs typeface="Courier New" pitchFamily="34" charset="-120"/>
              </a:rPr>
              <a:t>QUESTION</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Is the Big Cypress census-to-imagery alignment offset, rotated, or flipped?</a:t>
            </a:r>
            <a:endParaRPr lang="en-US" sz="1250" dirty="0"/>
          </a:p>
          <a:p>
            <a:pPr indent="0" marL="0">
              <a:spcAft>
                <a:spcPts val="1000"/>
              </a:spcAft>
              <a:buNone/>
            </a:pPr>
            <a:r>
              <a:rPr lang="en-US" sz="1250" b="1" dirty="0">
                <a:solidFill>
                  <a:srgbClr val="000000"/>
                </a:solidFill>
                <a:latin typeface="Courier New" pitchFamily="34" charset="0"/>
                <a:ea typeface="Courier New" pitchFamily="34" charset="-122"/>
                <a:cs typeface="Courier New" pitchFamily="34" charset="-120"/>
              </a:rPr>
              <a:t>CONSTRAINTS</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No retraining, no model changes. Pure diagnostics. Reuse the cached s16 predictions.</a:t>
            </a:r>
            <a:endParaRPr lang="en-US" sz="1250" dirty="0"/>
          </a:p>
          <a:p>
            <a:pPr indent="0" marL="0">
              <a:spcAft>
                <a:spcPts val="1000"/>
              </a:spcAft>
              <a:buNone/>
            </a:pPr>
            <a:r>
              <a:rPr lang="en-US" sz="1250" b="1" dirty="0">
                <a:solidFill>
                  <a:srgbClr val="000000"/>
                </a:solidFill>
                <a:latin typeface="Courier New" pitchFamily="34" charset="0"/>
                <a:ea typeface="Courier New" pitchFamily="34" charset="-122"/>
                <a:cs typeface="Courier New" pitchFamily="34" charset="-120"/>
              </a:rPr>
              <a:t>STEPS</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1. Palm test: 20 m crops with only palm points over the imagery</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2. Sweep shifts (+/-20 m), rotations (+/-20 deg), and flips; report the best one</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3. Check plots and census are axis-aligned 100 m squares</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4. Plain verdict: correct / offset / rotated / flipped</a:t>
            </a:r>
            <a:endParaRPr lang="en-US" sz="1250" dirty="0"/>
          </a:p>
          <a:p>
            <a:pPr indent="0" marL="0">
              <a:spcAft>
                <a:spcPts val="1000"/>
              </a:spcAft>
              <a:buNone/>
            </a:pPr>
            <a:r>
              <a:rPr lang="en-US" sz="1250" b="1" dirty="0">
                <a:solidFill>
                  <a:srgbClr val="000000"/>
                </a:solidFill>
                <a:latin typeface="Courier New" pitchFamily="34" charset="0"/>
                <a:ea typeface="Courier New" pitchFamily="34" charset="-122"/>
                <a:cs typeface="Courier New" pitchFamily="34" charset="-120"/>
              </a:rPr>
              <a:t>OUTPUTS</a:t>
            </a:r>
            <a:endParaRPr lang="en-US" sz="1250" dirty="0"/>
          </a:p>
          <a:p>
            <a:pPr indent="0" marL="0">
              <a:spcAft>
                <a:spcPts val="1000"/>
              </a:spcAft>
              <a:buNone/>
            </a:pPr>
            <a:r>
              <a:rPr lang="en-US" sz="1250" dirty="0">
                <a:solidFill>
                  <a:srgbClr val="000000"/>
                </a:solidFill>
                <a:latin typeface="Courier New" pitchFamily="34" charset="0"/>
                <a:ea typeface="Courier New" pitchFamily="34" charset="-122"/>
                <a:cs typeface="Courier New" pitchFamily="34" charset="-120"/>
              </a:rPr>
              <a:t>Write only under outputs/bcnp_georef and reports/bcnp_georef. Figures + CSV.</a:t>
            </a:r>
            <a:endParaRPr lang="en-US" sz="1250" dirty="0"/>
          </a:p>
        </p:txBody>
      </p:sp>
      <p:sp>
        <p:nvSpPr>
          <p:cNvPr id="6" name="Text 4"/>
          <p:cNvSpPr txBox="1"/>
          <p:nvPr/>
        </p:nvSpPr>
        <p:spPr>
          <a:xfrm>
            <a:off x="7223760" y="1188720"/>
            <a:ext cx="4480560" cy="41148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The template every prompt followed</a:t>
            </a:r>
            <a:endParaRPr lang="en-US" sz="1800" dirty="0"/>
          </a:p>
        </p:txBody>
      </p:sp>
      <p:sp>
        <p:nvSpPr>
          <p:cNvPr id="7" name="Text 5"/>
          <p:cNvSpPr txBox="1"/>
          <p:nvPr/>
        </p:nvSpPr>
        <p:spPr>
          <a:xfrm>
            <a:off x="7223760" y="1737360"/>
            <a:ext cx="36576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7635240" y="1764792"/>
            <a:ext cx="4023360"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One question: </a:t>
            </a:r>
            <a:pPr indent="0" marL="0">
              <a:buNone/>
            </a:pPr>
            <a:r>
              <a:rPr lang="en-US" sz="1400" dirty="0">
                <a:solidFill>
                  <a:srgbClr val="000000"/>
                </a:solidFill>
                <a:latin typeface="Arial" pitchFamily="34" charset="0"/>
                <a:ea typeface="Arial" pitchFamily="34" charset="-122"/>
                <a:cs typeface="Arial" pitchFamily="34" charset="-120"/>
              </a:rPr>
              <a:t>a single thing to find out per script</a:t>
            </a:r>
            <a:endParaRPr lang="en-US" sz="1400" dirty="0"/>
          </a:p>
        </p:txBody>
      </p:sp>
      <p:sp>
        <p:nvSpPr>
          <p:cNvPr id="9" name="Text 7"/>
          <p:cNvSpPr txBox="1"/>
          <p:nvPr/>
        </p:nvSpPr>
        <p:spPr>
          <a:xfrm>
            <a:off x="7223760" y="2340864"/>
            <a:ext cx="36576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7635240" y="2368296"/>
            <a:ext cx="4023360"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Hard constraints: </a:t>
            </a:r>
            <a:pPr indent="0" marL="0">
              <a:buNone/>
            </a:pPr>
            <a:r>
              <a:rPr lang="en-US" sz="1400" dirty="0">
                <a:solidFill>
                  <a:srgbClr val="000000"/>
                </a:solidFill>
                <a:latin typeface="Arial" pitchFamily="34" charset="0"/>
                <a:ea typeface="Arial" pitchFamily="34" charset="-122"/>
                <a:cs typeface="Arial" pitchFamily="34" charset="-120"/>
              </a:rPr>
              <a:t>what not to touch: no retraining, keep the test set out</a:t>
            </a:r>
            <a:endParaRPr lang="en-US" sz="1400" dirty="0"/>
          </a:p>
        </p:txBody>
      </p:sp>
      <p:sp>
        <p:nvSpPr>
          <p:cNvPr id="11" name="Text 9"/>
          <p:cNvSpPr txBox="1"/>
          <p:nvPr/>
        </p:nvSpPr>
        <p:spPr>
          <a:xfrm>
            <a:off x="7223760" y="2944368"/>
            <a:ext cx="36576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3</a:t>
            </a:r>
            <a:endParaRPr lang="en-US" sz="1800" dirty="0"/>
          </a:p>
        </p:txBody>
      </p:sp>
      <p:sp>
        <p:nvSpPr>
          <p:cNvPr id="12" name="Text 10"/>
          <p:cNvSpPr txBox="1"/>
          <p:nvPr/>
        </p:nvSpPr>
        <p:spPr>
          <a:xfrm>
            <a:off x="7635240" y="2971800"/>
            <a:ext cx="4023360"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Staged steps: </a:t>
            </a:r>
            <a:pPr indent="0" marL="0">
              <a:buNone/>
            </a:pPr>
            <a:r>
              <a:rPr lang="en-US" sz="1400" dirty="0">
                <a:solidFill>
                  <a:srgbClr val="000000"/>
                </a:solidFill>
                <a:latin typeface="Arial" pitchFamily="34" charset="0"/>
                <a:ea typeface="Arial" pitchFamily="34" charset="-122"/>
                <a:cs typeface="Arial" pitchFamily="34" charset="-120"/>
              </a:rPr>
              <a:t>so partial results survive a crash</a:t>
            </a:r>
            <a:endParaRPr lang="en-US" sz="1400" dirty="0"/>
          </a:p>
        </p:txBody>
      </p:sp>
      <p:sp>
        <p:nvSpPr>
          <p:cNvPr id="13" name="Text 11"/>
          <p:cNvSpPr txBox="1"/>
          <p:nvPr/>
        </p:nvSpPr>
        <p:spPr>
          <a:xfrm>
            <a:off x="7223760" y="3547872"/>
            <a:ext cx="36576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4</a:t>
            </a:r>
            <a:endParaRPr lang="en-US" sz="1800" dirty="0"/>
          </a:p>
        </p:txBody>
      </p:sp>
      <p:sp>
        <p:nvSpPr>
          <p:cNvPr id="14" name="Text 12"/>
          <p:cNvSpPr txBox="1"/>
          <p:nvPr/>
        </p:nvSpPr>
        <p:spPr>
          <a:xfrm>
            <a:off x="7635240" y="3575304"/>
            <a:ext cx="4023360"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Laptop limits: </a:t>
            </a:r>
            <a:pPr indent="0" marL="0">
              <a:buNone/>
            </a:pPr>
            <a:r>
              <a:rPr lang="en-US" sz="1400" dirty="0">
                <a:solidFill>
                  <a:srgbClr val="000000"/>
                </a:solidFill>
                <a:latin typeface="Arial" pitchFamily="34" charset="0"/>
                <a:ea typeface="Arial" pitchFamily="34" charset="-122"/>
                <a:cs typeface="Arial" pitchFamily="34" charset="-120"/>
              </a:rPr>
              <a:t>windowed reads, small batches, 18 GB of memory</a:t>
            </a:r>
            <a:endParaRPr lang="en-US" sz="1400" dirty="0"/>
          </a:p>
        </p:txBody>
      </p:sp>
      <p:sp>
        <p:nvSpPr>
          <p:cNvPr id="15" name="Text 13"/>
          <p:cNvSpPr txBox="1"/>
          <p:nvPr/>
        </p:nvSpPr>
        <p:spPr>
          <a:xfrm>
            <a:off x="7223760" y="4151376"/>
            <a:ext cx="36576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5</a:t>
            </a:r>
            <a:endParaRPr lang="en-US" sz="1800" dirty="0"/>
          </a:p>
        </p:txBody>
      </p:sp>
      <p:sp>
        <p:nvSpPr>
          <p:cNvPr id="16" name="Text 14"/>
          <p:cNvSpPr txBox="1"/>
          <p:nvPr/>
        </p:nvSpPr>
        <p:spPr>
          <a:xfrm>
            <a:off x="7635240" y="4178808"/>
            <a:ext cx="4023360"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Named outputs: </a:t>
            </a:r>
            <a:pPr indent="0" marL="0">
              <a:buNone/>
            </a:pPr>
            <a:r>
              <a:rPr lang="en-US" sz="1400" dirty="0">
                <a:solidFill>
                  <a:srgbClr val="000000"/>
                </a:solidFill>
                <a:latin typeface="Arial" pitchFamily="34" charset="0"/>
                <a:ea typeface="Arial" pitchFamily="34" charset="-122"/>
                <a:cs typeface="Arial" pitchFamily="34" charset="-120"/>
              </a:rPr>
              <a:t>its own folders, figures, and CSVs</a:t>
            </a:r>
            <a:endParaRPr lang="en-US" sz="1400" dirty="0"/>
          </a:p>
        </p:txBody>
      </p:sp>
      <p:sp>
        <p:nvSpPr>
          <p:cNvPr id="17" name="Text 15"/>
          <p:cNvSpPr txBox="1"/>
          <p:nvPr/>
        </p:nvSpPr>
        <p:spPr>
          <a:xfrm>
            <a:off x="7223760" y="4754880"/>
            <a:ext cx="365760" cy="4572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6</a:t>
            </a:r>
            <a:endParaRPr lang="en-US" sz="1800" dirty="0"/>
          </a:p>
        </p:txBody>
      </p:sp>
      <p:sp>
        <p:nvSpPr>
          <p:cNvPr id="18" name="Text 16"/>
          <p:cNvSpPr txBox="1"/>
          <p:nvPr/>
        </p:nvSpPr>
        <p:spPr>
          <a:xfrm>
            <a:off x="7635240" y="4782312"/>
            <a:ext cx="4023360"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A plain verdict: </a:t>
            </a:r>
            <a:pPr indent="0" marL="0">
              <a:buNone/>
            </a:pPr>
            <a:r>
              <a:rPr lang="en-US" sz="1400" dirty="0">
                <a:solidFill>
                  <a:srgbClr val="000000"/>
                </a:solidFill>
                <a:latin typeface="Arial" pitchFamily="34" charset="0"/>
                <a:ea typeface="Arial" pitchFamily="34" charset="-122"/>
                <a:cs typeface="Arial" pitchFamily="34" charset="-120"/>
              </a:rPr>
              <a:t>which I then checked against the figures</a:t>
            </a:r>
            <a:endParaRPr lang="en-US" sz="1400" dirty="0"/>
          </a:p>
        </p:txBody>
      </p:sp>
      <p:sp>
        <p:nvSpPr>
          <p:cNvPr id="19" name="Text 17"/>
          <p:cNvSpPr txBox="1"/>
          <p:nvPr/>
        </p:nvSpPr>
        <p:spPr>
          <a:xfrm>
            <a:off x="7223760" y="5440680"/>
            <a:ext cx="4434840" cy="8229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My part in every prompt: picking the question and the constraints, and pushing back when a verdict overclaimed.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I learned</a:t>
            </a:r>
            <a:endParaRPr lang="en-US" sz="3000" dirty="0"/>
          </a:p>
        </p:txBody>
      </p:sp>
      <p:sp>
        <p:nvSpPr>
          <p:cNvPr id="3" name="Text 1"/>
          <p:cNvSpPr txBox="1"/>
          <p:nvPr/>
        </p:nvSpPr>
        <p:spPr>
          <a:xfrm>
            <a:off x="548640" y="1325880"/>
            <a:ext cx="731520" cy="64008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1</a:t>
            </a:r>
            <a:endParaRPr lang="en-US" sz="3600" dirty="0"/>
          </a:p>
        </p:txBody>
      </p:sp>
      <p:sp>
        <p:nvSpPr>
          <p:cNvPr id="4" name="Text 2"/>
          <p:cNvSpPr txBox="1"/>
          <p:nvPr/>
        </p:nvSpPr>
        <p:spPr>
          <a:xfrm>
            <a:off x="548640" y="2057400"/>
            <a:ext cx="3429000" cy="6858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Check the answer key first</a:t>
            </a:r>
            <a:endParaRPr lang="en-US" sz="1900" dirty="0"/>
          </a:p>
        </p:txBody>
      </p:sp>
      <p:sp>
        <p:nvSpPr>
          <p:cNvPr id="5" name="Text 3"/>
          <p:cNvSpPr txBox="1"/>
          <p:nvPr/>
        </p:nvSpPr>
        <p:spPr>
          <a:xfrm>
            <a:off x="548640" y="2788920"/>
            <a:ext cx="3429000" cy="100584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94 of 100 "mistakes" were real trees the inventory missed.</a:t>
            </a:r>
            <a:endParaRPr lang="en-US" sz="1600" dirty="0"/>
          </a:p>
        </p:txBody>
      </p:sp>
      <p:sp>
        <p:nvSpPr>
          <p:cNvPr id="6" name="Text 4"/>
          <p:cNvSpPr txBox="1"/>
          <p:nvPr/>
        </p:nvSpPr>
        <p:spPr>
          <a:xfrm>
            <a:off x="4361688" y="1325880"/>
            <a:ext cx="731520" cy="64008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2</a:t>
            </a:r>
            <a:endParaRPr lang="en-US" sz="3600" dirty="0"/>
          </a:p>
        </p:txBody>
      </p:sp>
      <p:sp>
        <p:nvSpPr>
          <p:cNvPr id="7" name="Text 5"/>
          <p:cNvSpPr txBox="1"/>
          <p:nvPr/>
        </p:nvSpPr>
        <p:spPr>
          <a:xfrm>
            <a:off x="4361688" y="2057400"/>
            <a:ext cx="3429000" cy="6858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The metric is a design choice</a:t>
            </a:r>
            <a:endParaRPr lang="en-US" sz="1900" dirty="0"/>
          </a:p>
        </p:txBody>
      </p:sp>
      <p:sp>
        <p:nvSpPr>
          <p:cNvPr id="8" name="Text 6"/>
          <p:cNvSpPr txBox="1"/>
          <p:nvPr/>
        </p:nvSpPr>
        <p:spPr>
          <a:xfrm>
            <a:off x="4361688" y="2788920"/>
            <a:ext cx="3429000" cy="100584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Same model: F1 0.39 by box overlap, 0.52 by distance on the same test area.</a:t>
            </a:r>
            <a:endParaRPr lang="en-US" sz="1600" dirty="0"/>
          </a:p>
        </p:txBody>
      </p:sp>
      <p:sp>
        <p:nvSpPr>
          <p:cNvPr id="9" name="Text 7"/>
          <p:cNvSpPr txBox="1"/>
          <p:nvPr/>
        </p:nvSpPr>
        <p:spPr>
          <a:xfrm>
            <a:off x="8174736" y="1325880"/>
            <a:ext cx="731520" cy="64008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3</a:t>
            </a:r>
            <a:endParaRPr lang="en-US" sz="3600" dirty="0"/>
          </a:p>
        </p:txBody>
      </p:sp>
      <p:sp>
        <p:nvSpPr>
          <p:cNvPr id="10" name="Text 8"/>
          <p:cNvSpPr txBox="1"/>
          <p:nvPr/>
        </p:nvSpPr>
        <p:spPr>
          <a:xfrm>
            <a:off x="8174736" y="2057400"/>
            <a:ext cx="3429000" cy="6858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Always report a random baseline</a:t>
            </a:r>
            <a:endParaRPr lang="en-US" sz="1900" dirty="0"/>
          </a:p>
        </p:txBody>
      </p:sp>
      <p:sp>
        <p:nvSpPr>
          <p:cNvPr id="11" name="Text 9"/>
          <p:cNvSpPr txBox="1"/>
          <p:nvPr/>
        </p:nvSpPr>
        <p:spPr>
          <a:xfrm>
            <a:off x="8174736" y="2788920"/>
            <a:ext cx="3429000" cy="100584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In dense forest it showed a decent-looking 19% recall was chance.</a:t>
            </a:r>
            <a:endParaRPr lang="en-US" sz="1600" dirty="0"/>
          </a:p>
        </p:txBody>
      </p:sp>
      <p:sp>
        <p:nvSpPr>
          <p:cNvPr id="12" name="Text 10"/>
          <p:cNvSpPr txBox="1"/>
          <p:nvPr/>
        </p:nvSpPr>
        <p:spPr>
          <a:xfrm>
            <a:off x="548640" y="3977640"/>
            <a:ext cx="731520" cy="64008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4</a:t>
            </a:r>
            <a:endParaRPr lang="en-US" sz="3600" dirty="0"/>
          </a:p>
        </p:txBody>
      </p:sp>
      <p:sp>
        <p:nvSpPr>
          <p:cNvPr id="13" name="Text 11"/>
          <p:cNvSpPr txBox="1"/>
          <p:nvPr/>
        </p:nvSpPr>
        <p:spPr>
          <a:xfrm>
            <a:off x="548640" y="4709160"/>
            <a:ext cx="3429000" cy="6858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A negative result counts</a:t>
            </a:r>
            <a:endParaRPr lang="en-US" sz="1900" dirty="0"/>
          </a:p>
        </p:txBody>
      </p:sp>
      <p:sp>
        <p:nvSpPr>
          <p:cNvPr id="14" name="Text 12"/>
          <p:cNvSpPr txBox="1"/>
          <p:nvPr/>
        </p:nvSpPr>
        <p:spPr>
          <a:xfrm>
            <a:off x="548640" y="5440680"/>
            <a:ext cx="3429000" cy="100584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Ruling out six causes turned "it failed" into "RGB alone can't do this."</a:t>
            </a:r>
            <a:endParaRPr lang="en-US" sz="1600" dirty="0"/>
          </a:p>
        </p:txBody>
      </p:sp>
      <p:sp>
        <p:nvSpPr>
          <p:cNvPr id="15" name="Text 13"/>
          <p:cNvSpPr txBox="1"/>
          <p:nvPr/>
        </p:nvSpPr>
        <p:spPr>
          <a:xfrm>
            <a:off x="4361688" y="3977640"/>
            <a:ext cx="731520" cy="64008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5</a:t>
            </a:r>
            <a:endParaRPr lang="en-US" sz="3600" dirty="0"/>
          </a:p>
        </p:txBody>
      </p:sp>
      <p:sp>
        <p:nvSpPr>
          <p:cNvPr id="16" name="Text 14"/>
          <p:cNvSpPr txBox="1"/>
          <p:nvPr/>
        </p:nvSpPr>
        <p:spPr>
          <a:xfrm>
            <a:off x="4361688" y="4709160"/>
            <a:ext cx="3429000" cy="6858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Data and pretraining beat clever models</a:t>
            </a:r>
            <a:endParaRPr lang="en-US" sz="1900" dirty="0"/>
          </a:p>
        </p:txBody>
      </p:sp>
      <p:sp>
        <p:nvSpPr>
          <p:cNvPr id="17" name="Text 15"/>
          <p:cNvSpPr txBox="1"/>
          <p:nvPr/>
        </p:nvSpPr>
        <p:spPr>
          <a:xfrm>
            <a:off x="4361688" y="5440680"/>
            <a:ext cx="3429000" cy="100584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Pretraining was worth 0.15 to 0.24 F1; no model fixed Big Cypress.</a:t>
            </a:r>
            <a:endParaRPr lang="en-US" sz="1600" dirty="0"/>
          </a:p>
        </p:txBody>
      </p:sp>
      <p:sp>
        <p:nvSpPr>
          <p:cNvPr id="18" name="Text 16"/>
          <p:cNvSpPr txBox="1"/>
          <p:nvPr/>
        </p:nvSpPr>
        <p:spPr>
          <a:xfrm>
            <a:off x="8174736" y="3977640"/>
            <a:ext cx="731520" cy="64008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6</a:t>
            </a:r>
            <a:endParaRPr lang="en-US" sz="3600" dirty="0"/>
          </a:p>
        </p:txBody>
      </p:sp>
      <p:sp>
        <p:nvSpPr>
          <p:cNvPr id="19" name="Text 17"/>
          <p:cNvSpPr txBox="1"/>
          <p:nvPr/>
        </p:nvSpPr>
        <p:spPr>
          <a:xfrm>
            <a:off x="8174736" y="4709160"/>
            <a:ext cx="3429000" cy="6858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Small steps keep it honest</a:t>
            </a:r>
            <a:endParaRPr lang="en-US" sz="1900" dirty="0"/>
          </a:p>
        </p:txBody>
      </p:sp>
      <p:sp>
        <p:nvSpPr>
          <p:cNvPr id="20" name="Text 18"/>
          <p:cNvSpPr txBox="1"/>
          <p:nvPr/>
        </p:nvSpPr>
        <p:spPr>
          <a:xfrm>
            <a:off x="8174736" y="5440680"/>
            <a:ext cx="3429000" cy="100584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One script, one question, one commit made every result traceable.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Next steps</a:t>
            </a:r>
            <a:endParaRPr lang="en-US" sz="3000" dirty="0"/>
          </a:p>
        </p:txBody>
      </p:sp>
      <p:sp>
        <p:nvSpPr>
          <p:cNvPr id="3" name="Text 1"/>
          <p:cNvSpPr txBox="1"/>
          <p:nvPr/>
        </p:nvSpPr>
        <p:spPr>
          <a:xfrm>
            <a:off x="548640" y="1371600"/>
            <a:ext cx="7132320" cy="5029200"/>
          </a:xfrm>
          <a:prstGeom prst="rect">
            <a:avLst/>
          </a:prstGeom>
          <a:noFill/>
          <a:ln/>
        </p:spPr>
        <p:txBody>
          <a:bodyPr wrap="square" lIns="0" tIns="0" rIns="0" bIns="0" rtlCol="0" anchor="t"/>
          <a:lstStyle/>
          <a:p>
            <a:pPr marL="342900" indent="-342900">
              <a:spcAft>
                <a:spcPts val="1400"/>
              </a:spcAft>
              <a:buSzPct val="100000"/>
              <a:buChar char="•"/>
            </a:pPr>
            <a:r>
              <a:rPr lang="en-US" sz="1800" b="1" dirty="0">
                <a:solidFill>
                  <a:srgbClr val="000000"/>
                </a:solidFill>
                <a:latin typeface="Arial" pitchFamily="34" charset="0"/>
                <a:ea typeface="Arial" pitchFamily="34" charset="-122"/>
                <a:cs typeface="Arial" pitchFamily="34" charset="-120"/>
              </a:rPr>
              <a:t>Height data for Big Cypress: </a:t>
            </a:r>
            <a:pPr indent="0" marL="0">
              <a:spcAft>
                <a:spcPts val="1400"/>
              </a:spcAft>
              <a:buNone/>
            </a:pPr>
            <a:r>
              <a:rPr lang="en-US" sz="1800" dirty="0">
                <a:solidFill>
                  <a:srgbClr val="000000"/>
                </a:solidFill>
                <a:latin typeface="Arial" pitchFamily="34" charset="0"/>
                <a:ea typeface="Arial" pitchFamily="34" charset="-122"/>
                <a:cs typeface="Arial" pitchFamily="34" charset="-120"/>
              </a:rPr>
              <a:t>request the canopy height model from the drone processing (Tim Norris)</a:t>
            </a:r>
            <a:endParaRPr lang="en-US" sz="1800" dirty="0"/>
          </a:p>
          <a:p>
            <a:pPr marL="342900" indent="-342900">
              <a:spcAft>
                <a:spcPts val="1400"/>
              </a:spcAft>
              <a:buSzPct val="100000"/>
              <a:buChar char="•"/>
            </a:pPr>
            <a:r>
              <a:rPr lang="en-US" sz="1800" b="1" dirty="0">
                <a:solidFill>
                  <a:srgbClr val="000000"/>
                </a:solidFill>
                <a:latin typeface="Arial" pitchFamily="34" charset="0"/>
                <a:ea typeface="Arial" pitchFamily="34" charset="-122"/>
                <a:cs typeface="Arial" pitchFamily="34" charset="-120"/>
              </a:rPr>
              <a:t>Fix the data: </a:t>
            </a:r>
            <a:pPr indent="0" marL="0">
              <a:spcAft>
                <a:spcPts val="1400"/>
              </a:spcAft>
              <a:buNone/>
            </a:pPr>
            <a:r>
              <a:rPr lang="en-US" sz="1800" dirty="0">
                <a:solidFill>
                  <a:srgbClr val="000000"/>
                </a:solidFill>
                <a:latin typeface="Arial" pitchFamily="34" charset="0"/>
                <a:ea typeface="Arial" pitchFamily="34" charset="-122"/>
                <a:cs typeface="Arial" pitchFamily="34" charset="-120"/>
              </a:rPr>
              <a:t>re-export three broken plot images (plot_8_3, plot_11_2, plot_12_3)</a:t>
            </a:r>
            <a:endParaRPr lang="en-US" sz="1800" dirty="0"/>
          </a:p>
          <a:p>
            <a:pPr marL="342900" indent="-342900">
              <a:spcAft>
                <a:spcPts val="1400"/>
              </a:spcAft>
              <a:buSzPct val="100000"/>
              <a:buChar char="•"/>
            </a:pPr>
            <a:r>
              <a:rPr lang="en-US" sz="1800" b="1" dirty="0">
                <a:solidFill>
                  <a:srgbClr val="000000"/>
                </a:solidFill>
                <a:latin typeface="Arial" pitchFamily="34" charset="0"/>
                <a:ea typeface="Arial" pitchFamily="34" charset="-122"/>
                <a:cs typeface="Arial" pitchFamily="34" charset="-120"/>
              </a:rPr>
              <a:t>Finish the clean evaluation area: </a:t>
            </a:r>
            <a:pPr indent="0" marL="0">
              <a:spcAft>
                <a:spcPts val="1400"/>
              </a:spcAft>
              <a:buNone/>
            </a:pPr>
            <a:r>
              <a:rPr lang="en-US" sz="1800" dirty="0">
                <a:solidFill>
                  <a:srgbClr val="000000"/>
                </a:solidFill>
                <a:latin typeface="Arial" pitchFamily="34" charset="0"/>
                <a:ea typeface="Arial" pitchFamily="34" charset="-122"/>
                <a:cs typeface="Arial" pitchFamily="34" charset="-120"/>
              </a:rPr>
              <a:t>hand-label every tree in the 250 m square for a fully trustworthy campus score</a:t>
            </a:r>
            <a:endParaRPr lang="en-US" sz="1800" dirty="0"/>
          </a:p>
          <a:p>
            <a:pPr marL="342900" indent="-342900">
              <a:spcAft>
                <a:spcPts val="1400"/>
              </a:spcAft>
              <a:buSzPct val="100000"/>
              <a:buChar char="•"/>
            </a:pPr>
            <a:r>
              <a:rPr lang="en-US" sz="1800" b="1" dirty="0">
                <a:solidFill>
                  <a:srgbClr val="000000"/>
                </a:solidFill>
                <a:latin typeface="Arial" pitchFamily="34" charset="0"/>
                <a:ea typeface="Arial" pitchFamily="34" charset="-122"/>
                <a:cs typeface="Arial" pitchFamily="34" charset="-120"/>
              </a:rPr>
              <a:t>Better model shape: </a:t>
            </a:r>
            <a:pPr indent="0" marL="0">
              <a:spcAft>
                <a:spcPts val="1400"/>
              </a:spcAft>
              <a:buNone/>
            </a:pPr>
            <a:r>
              <a:rPr lang="en-US" sz="1800" dirty="0">
                <a:solidFill>
                  <a:srgbClr val="000000"/>
                </a:solidFill>
                <a:latin typeface="Arial" pitchFamily="34" charset="0"/>
                <a:ea typeface="Arial" pitchFamily="34" charset="-122"/>
                <a:cs typeface="Arial" pitchFamily="34" charset="-120"/>
              </a:rPr>
              <a:t>crown segmentation or height-aware models instead of flat boxes</a:t>
            </a:r>
            <a:endParaRPr lang="en-US" sz="1800" dirty="0"/>
          </a:p>
          <a:p>
            <a:pPr marL="342900" indent="-342900">
              <a:spcAft>
                <a:spcPts val="1400"/>
              </a:spcAft>
              <a:buSzPct val="100000"/>
              <a:buChar char="•"/>
            </a:pPr>
            <a:r>
              <a:rPr lang="en-US" sz="1800" b="1" dirty="0">
                <a:solidFill>
                  <a:srgbClr val="000000"/>
                </a:solidFill>
                <a:latin typeface="Arial" pitchFamily="34" charset="0"/>
                <a:ea typeface="Arial" pitchFamily="34" charset="-122"/>
                <a:cs typeface="Arial" pitchFamily="34" charset="-120"/>
              </a:rPr>
              <a:t>Cleaner evaluation: </a:t>
            </a:r>
            <a:pPr indent="0" marL="0">
              <a:spcAft>
                <a:spcPts val="1400"/>
              </a:spcAft>
              <a:buNone/>
            </a:pPr>
            <a:r>
              <a:rPr lang="en-US" sz="1800" dirty="0">
                <a:solidFill>
                  <a:srgbClr val="000000"/>
                </a:solidFill>
                <a:latin typeface="Arial" pitchFamily="34" charset="0"/>
                <a:ea typeface="Arial" pitchFamily="34" charset="-122"/>
                <a:cs typeface="Arial" pitchFamily="34" charset="-120"/>
              </a:rPr>
              <a:t>a separate validation region so the test set never picks the checkpoint</a:t>
            </a:r>
            <a:endParaRPr lang="en-US" sz="1800" dirty="0"/>
          </a:p>
          <a:p>
            <a:pPr marL="342900" indent="-342900">
              <a:spcAft>
                <a:spcPts val="1400"/>
              </a:spcAft>
              <a:buSzPct val="100000"/>
              <a:buChar char="•"/>
            </a:pPr>
            <a:r>
              <a:rPr lang="en-US" sz="1800" b="1" dirty="0">
                <a:solidFill>
                  <a:srgbClr val="000000"/>
                </a:solidFill>
                <a:latin typeface="Arial" pitchFamily="34" charset="0"/>
                <a:ea typeface="Arial" pitchFamily="34" charset="-122"/>
                <a:cs typeface="Arial" pitchFamily="34" charset="-120"/>
              </a:rPr>
              <a:t>Write-up: </a:t>
            </a:r>
            <a:pPr indent="0" marL="0">
              <a:spcAft>
                <a:spcPts val="1400"/>
              </a:spcAft>
              <a:buNone/>
            </a:pPr>
            <a:r>
              <a:rPr lang="en-US" sz="1800" dirty="0">
                <a:solidFill>
                  <a:srgbClr val="000000"/>
                </a:solidFill>
                <a:latin typeface="Arial" pitchFamily="34" charset="0"/>
                <a:ea typeface="Arial" pitchFamily="34" charset="-122"/>
                <a:cs typeface="Arial" pitchFamily="34" charset="-120"/>
              </a:rPr>
              <a:t>research summary of both sites</a:t>
            </a:r>
            <a:endParaRPr lang="en-US" sz="1800" dirty="0"/>
          </a:p>
        </p:txBody>
      </p:sp>
      <p:sp>
        <p:nvSpPr>
          <p:cNvPr id="4" name="Text 2"/>
          <p:cNvSpPr txBox="1"/>
          <p:nvPr/>
        </p:nvSpPr>
        <p:spPr>
          <a:xfrm>
            <a:off x="8138160" y="2103120"/>
            <a:ext cx="3474720" cy="731520"/>
          </a:xfrm>
          <a:prstGeom prst="rect">
            <a:avLst/>
          </a:prstGeom>
          <a:noFill/>
          <a:ln/>
        </p:spPr>
        <p:txBody>
          <a:bodyPr wrap="square" lIns="0" tIns="0" rIns="0" bIns="0" rtlCol="0" anchor="t"/>
          <a:lstStyle/>
          <a:p>
            <a:pPr indent="0" marL="0">
              <a:buNone/>
            </a:pPr>
            <a:r>
              <a:rPr lang="en-US" sz="3600" b="1" dirty="0">
                <a:solidFill>
                  <a:srgbClr val="000000"/>
                </a:solidFill>
                <a:latin typeface="Arial" pitchFamily="34" charset="0"/>
                <a:ea typeface="Arial" pitchFamily="34" charset="-122"/>
                <a:cs typeface="Arial" pitchFamily="34" charset="-120"/>
              </a:rPr>
              <a:t>Thank you</a:t>
            </a:r>
            <a:endParaRPr lang="en-US" sz="3600" dirty="0"/>
          </a:p>
        </p:txBody>
      </p:sp>
      <p:sp>
        <p:nvSpPr>
          <p:cNvPr id="5" name="Text 3"/>
          <p:cNvSpPr txBox="1"/>
          <p:nvPr/>
        </p:nvSpPr>
        <p:spPr>
          <a:xfrm>
            <a:off x="8138160" y="2926080"/>
            <a:ext cx="3474720" cy="914400"/>
          </a:xfrm>
          <a:prstGeom prst="rect">
            <a:avLst/>
          </a:prstGeom>
          <a:noFill/>
          <a:ln/>
        </p:spPr>
        <p:txBody>
          <a:bodyPr wrap="square" lIns="0" tIns="0" rIns="0" bIns="0" rtlCol="0" anchor="t"/>
          <a:lstStyle/>
          <a:p>
            <a:pPr indent="0" marL="0">
              <a:buNone/>
            </a:pPr>
            <a:r>
              <a:rPr lang="en-US" sz="1800" dirty="0">
                <a:solidFill>
                  <a:srgbClr val="000000"/>
                </a:solidFill>
                <a:latin typeface="Arial" pitchFamily="34" charset="0"/>
                <a:ea typeface="Arial" pitchFamily="34" charset="-122"/>
                <a:cs typeface="Arial" pitchFamily="34" charset="-120"/>
              </a:rPr>
              <a:t>Up next: Ahsan, on the YOLO26s campus model</a:t>
            </a:r>
            <a:endParaRPr lang="en-US" sz="1800" dirty="0"/>
          </a:p>
        </p:txBody>
      </p:sp>
      <p:sp>
        <p:nvSpPr>
          <p:cNvPr id="6" name="Text 4"/>
          <p:cNvSpPr txBox="1"/>
          <p:nvPr/>
        </p:nvSpPr>
        <p:spPr>
          <a:xfrm>
            <a:off x="8138160" y="4114800"/>
            <a:ext cx="3474720" cy="457200"/>
          </a:xfrm>
          <a:prstGeom prst="rect">
            <a:avLst/>
          </a:prstGeom>
          <a:noFill/>
          <a:ln/>
        </p:spPr>
        <p:txBody>
          <a:bodyPr wrap="square" lIns="0" tIns="0" rIns="0" bIns="0" rtlCol="0" anchor="t"/>
          <a:lstStyle/>
          <a:p>
            <a:pPr indent="0" marL="0">
              <a:buNone/>
            </a:pPr>
            <a:r>
              <a:rPr lang="en-US" sz="1300" dirty="0">
                <a:solidFill>
                  <a:srgbClr val="444444"/>
                </a:solidFill>
                <a:latin typeface="Arial" pitchFamily="34" charset="0"/>
                <a:ea typeface="Arial" pitchFamily="34" charset="-122"/>
                <a:cs typeface="Arial" pitchFamily="34" charset="-120"/>
              </a:rPr>
              <a:t>Code: soflo-tree-models (rayan branch)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Individual Tree Detection from Drone Imagery</dc:title>
  <dc:subject>PptxGenJS Presentation</dc:subject>
  <dc:creator>Rayan Arya</dc:creator>
  <cp:lastModifiedBy>Rayan Arya</cp:lastModifiedBy>
  <cp:revision>1</cp:revision>
  <dcterms:created xsi:type="dcterms:W3CDTF">2026-09-25T16:23:05Z</dcterms:created>
  <dcterms:modified xsi:type="dcterms:W3CDTF">2026-09-25T16:23:05Z</dcterms:modified>
</cp:coreProperties>
</file>